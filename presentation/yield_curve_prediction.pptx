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8d7de2-f147-58e9-c4d2-0c52402f2666}">
          <p14:sldIdLst>
            <p14:sldId id="256"/>
            <p14:sldId id="257"/>
            <p14:sldId id="258"/>
          </p14:sldIdLst>
        </p14:section>
        <p14:section name="Data and EDA" id="{b892a925-5246-c84e-8f08-c25f680b95c8}">
          <p14:sldIdLst>
            <p14:sldId id="259"/>
            <p14:sldId id="260"/>
            <p14:sldId id="261"/>
            <p14:sldId id="262"/>
            <p14:sldId id="263"/>
          </p14:sldIdLst>
        </p14:section>
        <p14:section name="Models" id="{2277e994-bcf1-419a-bed3-eeebd7e0dd98}">
          <p14:sldIdLst>
            <p14:sldId id="264"/>
            <p14:sldId id="265"/>
          </p14:sldIdLst>
        </p14:section>
        <p14:section name="Results" id="{6b2b34ba-bb5f-8f46-3618-c98e770e7245}">
          <p14:sldIdLst>
            <p14:sldId id="266"/>
            <p14:sldId id="267"/>
            <p14:sldId id="268"/>
            <p14:sldId id="269"/>
            <p14:sldId id="270"/>
            <p14:sldId id="271"/>
            <p14:sldId id="272"/>
          </p14:sldIdLst>
        </p14:section>
        <p14:section name="Conclusion" id="{f0467a5e-0407-9465-4462-0dbe5b363ad7}">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Average skill vs naive, experiment C (0 = naive)</a:t>
            </a:r>
          </a:p>
        </c:rich>
      </c:tx>
      <c:layout/>
      <c:overlay val="0"/>
    </c:title>
    <c:autoTitleDeleted val="0"/>
    <c:plotArea>
      <c:layout/>
      <c:barChart>
        <c:barDir val="bar"/>
        <c:grouping val="clustered"/>
        <c:varyColors val="0"/>
        <c:ser>
          <c:idx val="0"/>
          <c:order val="0"/>
          <c:tx>
            <c:strRef>
              <c:f>Sheet1!$B$1</c:f>
              <c:strCache>
                <c:ptCount val="1"/>
                <c:pt idx="0">
                  <c:v>Skill vs naive</c:v>
                </c:pt>
              </c:strCache>
            </c:strRef>
          </c:tx>
          <c:spPr>
            <a:solidFill>
              <a:srgbClr val="2A78D6"/>
            </a:solidFill>
            <a:effectLst/>
          </c:spPr>
          <c:invertIfNegative val="0"/>
          <c:dLbls>
            <c:numFmt formatCode="0.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1BAF7A"/>
              </a:solidFill>
              <a:effectLst/>
            </c:spPr>
          </c:dPt>
          <c:dPt>
            <c:idx val="3"/>
            <c:invertIfNegative val="0"/>
            <c:bubble3D val="0"/>
            <c:spPr>
              <a:solidFill>
                <a:srgbClr val="EDA100"/>
              </a:solidFill>
              <a:effectLst/>
            </c:spPr>
          </c:dPt>
          <c:dPt>
            <c:idx val="4"/>
            <c:invertIfNegative val="0"/>
            <c:bubble3D val="0"/>
            <c:spPr>
              <a:solidFill>
                <a:srgbClr val="008300"/>
              </a:solidFill>
              <a:effectLst/>
            </c:spPr>
          </c:dPt>
          <c:dPt>
            <c:idx val="5"/>
            <c:invertIfNegative val="0"/>
            <c:bubble3D val="0"/>
            <c:spPr>
              <a:solidFill>
                <a:srgbClr val="E87BA4"/>
              </a:solidFill>
              <a:effectLst/>
            </c:spPr>
          </c:dPt>
          <c:cat>
            <c:multiLvlStrRef>
              <c:f>Sheet1!$A$2:$A$7</c:f>
              <c:multiLvlStrCache>
                <c:ptCount val="6"/>
                <c:lvl>
                  <c:pt idx="0">
                    <c:v>Linear</c:v>
                  </c:pt>
                  <c:pt idx="1">
                    <c:v>XGBoost</c:v>
                  </c:pt>
                  <c:pt idx="2">
                    <c:v>Keras</c:v>
                  </c:pt>
                  <c:pt idx="3">
                    <c:v>fastai</c:v>
                  </c:pt>
                  <c:pt idx="4">
                    <c:v>Flash</c:v>
                  </c:pt>
                  <c:pt idx="5">
                    <c:v>TabNet</c:v>
                  </c:pt>
                </c:lvl>
              </c:multiLvlStrCache>
            </c:multiLvlStrRef>
          </c:cat>
          <c:val>
            <c:numRef>
              <c:f>Sheet1!$B$2:$B$7</c:f>
              <c:numCache>
                <c:formatCode>General</c:formatCode>
                <c:ptCount val="6"/>
                <c:pt idx="0">
                  <c:v>-0.024</c:v>
                </c:pt>
                <c:pt idx="1">
                  <c:v>-0.052</c:v>
                </c:pt>
                <c:pt idx="2">
                  <c:v>-0.081</c:v>
                </c:pt>
                <c:pt idx="3">
                  <c:v>-0.09</c:v>
                </c:pt>
                <c:pt idx="4">
                  <c:v>-0.114</c:v>
                </c:pt>
                <c:pt idx="5">
                  <c:v>-0.123</c:v>
                </c:pt>
              </c:numCache>
            </c:numRef>
          </c:val>
        </c:ser>
        <c:dLbls>
          <c:numFmt formatCode="0.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0"/>
          <c:min val="-0.15"/>
        </c:scaling>
        <c:delete val="0"/>
        <c:axPos val="b"/>
        <c:majorGridlines>
          <c:spPr>
            <a:ln w="9525" cap="flat">
              <a:solidFill>
                <a:srgbClr val="E5E7EB"/>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(Ashwin and Abhishek) and the project. One sentence: we tried to predict the 1-month, 5-year and 30-year US Treasury yields one week ahead with five machine learning frameworks, and compared them on simplicity, transparency and efficacy.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yield curve plots the interest rates of bonds with the same credit quality but different maturities. The US Treasury curve is the benchmark for mortgages, loans and corporate bonds. Normally it slopes up. When it inverts (short rates above long rates) it has often signalled a recession. The plot shows four real days: a steep curve in 2014, flat in 2019, inverted in 2023 and the latest curve in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has five parts: get the data from Yahoo Finance, do EDA, build regression models with five frameworks, compare them on simplicity, transparency and efficacy plus RMSE, MAE and R2, and write the report and presentation. On top of that we added baselines, three experiments and a significance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Yahoo Finance only has four Treasury yields and not the 1-month yield, which is one of our targets, nor the debt data. So the yield curve and debt data come from FRED, the Federal Reserve database, like in the original case study. Yahoo gives the market indicators. Where both sources have the same yield, they agree almost perfectly, so the data is reliable. Quarterly debt numbers are only used from the date they would have been published, to avoid look-ahead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notebook uses the same shared code for the data, the split and the metrics, so the comparison is fair. Each framework has its own notebook and saves its test predictions to CSV; the last notebook only reads those files and computes everything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rates until 2015, gradual hikes until 2019, COVID in 2020, then the fastest hikes in decades in 2022 and 2023. The 1-month yield jumped to 6.02% in May 2023 during the debt-ceiling standoff. Since late 2024 rates were cut, but long yields kept rising and the 30-year reached 5.64% in September 2026, the highest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10Y-2Y spread was negative for 537 trading days, from July 2022 to August 2024, the longest inversion in the data. Right: PCA on daily changes shows that three factors, level, slope and curvature, explain 93 percent of all movement of the 8 yields, which matches Litterman and Scheinkman 1991. So the 8 yield features are largely redundant.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Yield levels are not stationary: ADF p-values around 0.8 to 0.9, and next week's yield is almost today's yield. Worse, every test day for the 1M and 5Y yields is above the highest value seen in training. Decision trees cannot predict above the training maximum. Weekly changes are stationary and stay in the same range in every period, so we also predict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A copies the original case study. B changes only the target. C also removes the 8 raw yield levels from the inputs, because the inputs are just as non-stationary as the target. We checked on the validation year, not the test set, that this choice of inputs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baselines and the five frameworks. XGBoost and Flash train one model per target; Keras, fastai and TabNet predict all three targets with one network. Each framework got a similar small tuning budget, chosen on the 2022 validation set, and early stopping where the framework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XGBoost predicts the level, its forecasts can never go above the highest value it saw in training, the dashed line. It predicted about 2.4 percent for the 1-month yield while the real yield was 3.4 to 6 percent. Average error 137 basis points. The neural networks can go above the line, but they also failed. Experiment C follows the real yield because it predicts only the small weekly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skill against the naive forecast in experiment C, averaged over the three targets. Zero means as good as naive, negative means worse. Every model is slightly worse. Linear regression and XGBoost come closest, the four neural networks are a bit worse. Average errors are between 13.2 and 14.9 basis points, within about 1.7 basis points of naive.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means worse than naive, blue better. Experiment A on the left is red for every learned model. In B, XGBoost and TabNet get close to naive but Flash fails. C is the most consistent experiment, all models between minus 0.23 and 0. For linear regression A and B are identical because today's yields are inputs, so the two targets are the same least-squares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Diebold-Mariano test compares the errors of each model with the naive forecast, corrected for the overlapping 5-day forecasts. None of the 18 model and target pairs is significantly better than naive, and 8 are significantly worse, mostly the 30-year yield. The rolling error shows that spring 2023 was hardest for every model: the Silicon Valley Bank collapse in March and the debt-ceiling standoff in May.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SHAP values for the XGBoost 5-year model. A wide credit spread pushes the forecast down, which makes economic sense: in stress, investors buy government bonds. Right: TabNet's attention masks. For most days it looks at slow features, but in mid-March 2023, when Silicon Valley Bank collapsed, it switched to the curve slope and recent momentum. The 10Y-3M slope is a top-5 feature for 5 of the 6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Simplicity uses lines of code, number of hyperparameters, training time and setup effort. Transparency is a checklist: built-in importance, explanation of a single prediction, inspectable model, same result every run. Efficacy uses skill and direction accuracy in experiment C. XGBoost wins all three. Flash is last because it is archived and needed a separate environment and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problems from the project. The Flash one is the most interesting. The first Flash results had errors of hundreds of percentage points, and only for some seeds. Comparing seeds showed that Flash's normalisation statistics changed between runs on the same data. Reading Flash's source code showed it normalises the DataFrame passed to it in place, so reused data was normalised again and again. Passing a copy fixed it. Because Flash is archived, this bug will never be fixed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First, the choice of target matters more than the framework. Second, nothing beats the naive forecast, which is what efficient-market theory and earlier research suggest. Third, simpler models are closer to naive and more stable. Fourth, XGBoost is the best framework overall for this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limitations: only one horizon and one split, models never retrained after 2021, publication lag approximated, small tuning budget, and no inflation or Fed funds futures data. Future work: longer horizons, Nelson-Siegel factors, walk-forward retraining and market expectations of the policy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GitHub repository if asked. Be ready to run a notebook, change one hyperparameter and explain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11880"/>
            <a:ext cx="10698480" cy="2377440"/>
          </a:xfrm>
          <a:prstGeom prst="rect">
            <a:avLst/>
          </a:prstGeom>
          <a:noFill/>
          <a:ln/>
        </p:spPr>
        <p:txBody>
          <a:bodyPr wrap="square" rtlCol="0"/>
          <a:lstStyle>
            <a:lvl1pPr algn="l" indent="0" marL="0">
              <a:buNone/>
              <a:defRPr lang="en-US" sz="1800" dirty="0">
                <a:solidFill>
                  <a:srgbClr val="CBD5E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000" b="1" dirty="0">
                <a:solidFill>
                  <a:srgbClr val="14213D"/>
                </a:solidFill>
              </a:defRPr>
            </a:lvl1pPr>
          </a:lstStyle>
          <a:p>
            <a:pPr indent="0" marL="0">
              <a:buNone/>
            </a:pPr>
            <a:endParaRPr lang="en-US" sz="3000" dirty="0"/>
          </a:p>
        </p:txBody>
      </p:sp>
      <p:sp>
        <p:nvSpPr>
          <p:cNvPr id="3" name="Text 0"/>
          <p:cNvSpPr/>
          <p:nvPr/>
        </p:nvSpPr>
        <p:spPr>
          <a:xfrm>
            <a:off x="548640" y="6382512"/>
            <a:ext cx="6400800" cy="274320"/>
          </a:xfrm>
          <a:prstGeom prst="rect">
            <a:avLst/>
          </a:prstGeom>
          <a:noFill/>
          <a:ln/>
        </p:spPr>
        <p:txBody>
          <a:bodyPr wrap="square" rtlCol="0" anchor="ctr"/>
          <a:lstStyle/>
          <a:p>
            <a:pPr indent="0" marL="0">
              <a:buNone/>
            </a:pPr>
            <a:r>
              <a:rPr lang="en-US" sz="1000" dirty="0">
                <a:solidFill>
                  <a:srgbClr val="6B7280"/>
                </a:solidFill>
              </a:rPr>
              <a:t>Yield curve prediction with supervised learning</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000" b="1" dirty="0">
                <a:solidFill>
                  <a:srgbClr val="FFFFFF"/>
                </a:solidFill>
              </a:rPr>
              <a:t>Supervised Learning Models to Predict the Yield Curve</a:t>
            </a:r>
            <a:endParaRPr lang="en-US" sz="4000" dirty="0"/>
          </a:p>
        </p:txBody>
      </p:sp>
      <p:sp>
        <p:nvSpPr>
          <p:cNvPr id="3" name="Text 0"/>
          <p:cNvSpPr/>
          <p:nvPr>
            <p:ph idx="101" type="body" hasCustomPrompt="1"/>
          </p:nvPr>
        </p:nvSpPr>
        <p:spPr>
          <a:xfrm>
            <a:off x="731520" y="3611880"/>
            <a:ext cx="10698480" cy="2377440"/>
          </a:xfrm>
          <a:prstGeom prst="rect">
            <a:avLst/>
          </a:prstGeom>
          <a:noFill/>
          <a:ln/>
        </p:spPr>
        <p:txBody>
          <a:bodyPr wrap="square" rtlCol="0" anchor="t"/>
          <a:lstStyle/>
          <a:p>
            <a:pPr algn="l" indent="0" marL="0">
              <a:buNone/>
            </a:pPr>
            <a:r>
              <a:rPr lang="en-US" sz="1800" dirty="0">
                <a:solidFill>
                  <a:srgbClr val="CBD5E1"/>
                </a:solidFill>
              </a:rPr>
              <a:t>Forecasting US Treasury yields one week ahead with XGBoost, Keras, fastai, TabNet and Lightning Flash</a:t>
            </a:r>
            <a:endParaRPr lang="en-US" sz="1800" dirty="0"/>
          </a:p>
          <a:p>
            <a:pPr algn="l" indent="0" marL="0">
              <a:buNone/>
            </a:pPr>
            <a:r>
              <a:rPr lang="en-US" sz="1800" dirty="0">
                <a:solidFill>
                  <a:srgbClr val="CBD5E1"/>
                </a:solidFill>
              </a:rPr>
              <a:t>Ashwin Anand (PES1UG24AM057)  ·  Abhishek Mundanat (PES1UG24AM012)</a:t>
            </a:r>
            <a:endParaRPr lang="en-US" sz="1800" dirty="0"/>
          </a:p>
          <a:p>
            <a:pPr algn="l" indent="0" marL="0">
              <a:buNone/>
            </a:pPr>
            <a:r>
              <a:rPr lang="en-US" sz="1800" dirty="0">
                <a:solidFill>
                  <a:srgbClr val="CBD5E1"/>
                </a:solidFill>
              </a:rPr>
              <a:t>MLBD  ·  Department of AIML, PES University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What is the yield curve and why predict it?</a:t>
            </a:r>
            <a:endParaRPr lang="en-US" sz="3000" dirty="0"/>
          </a:p>
        </p:txBody>
      </p:sp>
      <p:pic>
        <p:nvPicPr>
          <p:cNvPr id="4" name="02_curve_shapes" descr="Yield curve on four days">    </p:cNvPr>
          <p:cNvPicPr>
            <a:picLocks noChangeAspect="1"/>
          </p:cNvPicPr>
          <p:nvPr/>
        </p:nvPicPr>
        <p:blipFill>
          <a:blip r:embed="rId1"/>
          <a:stretch>
            <a:fillRect/>
          </a:stretch>
        </p:blipFill>
        <p:spPr>
          <a:xfrm>
            <a:off x="5760720" y="1325880"/>
            <a:ext cx="5943600" cy="3388849"/>
          </a:xfrm>
          <a:prstGeom prst="rect">
            <a:avLst/>
          </a:prstGeom>
        </p:spPr>
      </p:pic>
      <p:sp>
        <p:nvSpPr>
          <p:cNvPr id="5" name="bullets"/>
          <p:cNvSpPr txBox="1"/>
          <p:nvPr/>
        </p:nvSpPr>
        <p:spPr>
          <a:xfrm>
            <a:off x="548640" y="1463040"/>
            <a:ext cx="5029200" cy="4389120"/>
          </a:xfrm>
          <a:prstGeom prst="rect">
            <a:avLst/>
          </a:prstGeom>
          <a:noFill/>
          <a:ln/>
        </p:spPr>
        <p:txBody>
          <a:bodyPr wrap="square" rtlCol="0" anchor="t"/>
          <a:lstStyle/>
          <a:p>
            <a:pPr marL="342900" indent="-342900">
              <a:spcAft>
                <a:spcPts val="800"/>
              </a:spcAft>
              <a:buSzPct val="100000"/>
              <a:buChar char="•"/>
            </a:pPr>
            <a:r>
              <a:rPr lang="en-US" sz="1800" dirty="0">
                <a:solidFill>
                  <a:srgbClr val="1F2937"/>
                </a:solidFill>
              </a:rPr>
              <a:t>Yields of US Treasury bonds from 1 month to 30 years</a:t>
            </a:r>
            <a:endParaRPr lang="en-US" sz="1800" dirty="0"/>
          </a:p>
          <a:p>
            <a:pPr marL="342900" indent="-342900">
              <a:spcAft>
                <a:spcPts val="800"/>
              </a:spcAft>
              <a:buSzPct val="100000"/>
              <a:buChar char="•"/>
            </a:pPr>
            <a:r>
              <a:rPr lang="en-US" sz="1800" dirty="0">
                <a:solidFill>
                  <a:srgbClr val="1F2937"/>
                </a:solidFill>
              </a:rPr>
              <a:t>Benchmark for mortgages, bank loans and corporate bonds</a:t>
            </a:r>
            <a:endParaRPr lang="en-US" sz="1800" dirty="0"/>
          </a:p>
          <a:p>
            <a:pPr marL="342900" indent="-342900">
              <a:spcAft>
                <a:spcPts val="800"/>
              </a:spcAft>
              <a:buSzPct val="100000"/>
              <a:buChar char="•"/>
            </a:pPr>
            <a:r>
              <a:rPr lang="en-US" sz="1800" dirty="0">
                <a:solidFill>
                  <a:srgbClr val="1F2937"/>
                </a:solidFill>
              </a:rPr>
              <a:t>Normally slopes upward; an inverted curve has often come before a recession</a:t>
            </a:r>
            <a:endParaRPr lang="en-US" sz="1800" dirty="0"/>
          </a:p>
          <a:p>
            <a:pPr marL="342900" indent="-342900">
              <a:spcAft>
                <a:spcPts val="800"/>
              </a:spcAft>
              <a:buSzPct val="100000"/>
              <a:buChar char="•"/>
            </a:pPr>
            <a:r>
              <a:rPr lang="en-US" sz="1800" dirty="0">
                <a:solidFill>
                  <a:srgbClr val="1F2937"/>
                </a:solidFill>
              </a:rPr>
              <a:t>Used by pension funds, insurers, banks and central banks</a:t>
            </a:r>
            <a:endParaRPr lang="en-US" sz="1800" dirty="0"/>
          </a:p>
          <a:p>
            <a:pPr marL="342900" indent="-342900">
              <a:spcAft>
                <a:spcPts val="800"/>
              </a:spcAft>
              <a:buSzPct val="100000"/>
              <a:buChar char="•"/>
            </a:pPr>
            <a:r>
              <a:rPr lang="en-US" sz="1800" dirty="0">
                <a:solidFill>
                  <a:srgbClr val="1F2937"/>
                </a:solidFill>
              </a:rPr>
              <a:t>Task: predict the 1M, 5Y and 30Y yields 5 trading days ahead</a:t>
            </a:r>
            <a:endParaRPr lang="en-US" sz="18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Objectives</a:t>
            </a:r>
            <a:endParaRPr lang="en-US" sz="3000" dirty="0"/>
          </a:p>
        </p:txBody>
      </p:sp>
      <p:sp>
        <p:nvSpPr>
          <p:cNvPr id="4" name="card"/>
          <p:cNvSpPr/>
          <p:nvPr/>
        </p:nvSpPr>
        <p:spPr>
          <a:xfrm>
            <a:off x="548640" y="1417320"/>
            <a:ext cx="2084832" cy="1600200"/>
          </a:xfrm>
          <a:prstGeom prst="roundRect">
            <a:avLst>
              <a:gd name="adj" fmla="val 4571"/>
            </a:avLst>
          </a:prstGeom>
          <a:solidFill>
            <a:srgbClr val="F3F4F6"/>
          </a:solidFill>
          <a:ln w="12700">
            <a:solidFill>
              <a:srgbClr val="F3F4F6"/>
            </a:solidFill>
            <a:prstDash val="solid"/>
          </a:ln>
        </p:spPr>
      </p:sp>
      <p:sp>
        <p:nvSpPr>
          <p:cNvPr id="5" name="badge"/>
          <p:cNvSpPr/>
          <p:nvPr/>
        </p:nvSpPr>
        <p:spPr>
          <a:xfrm>
            <a:off x="731520" y="1600200"/>
            <a:ext cx="457200" cy="457200"/>
          </a:xfrm>
          <a:prstGeom prst="ellipse">
            <a:avLst/>
          </a:prstGeom>
          <a:solidFill>
            <a:srgbClr val="EB6834"/>
          </a:solidFill>
          <a:ln w="12700">
            <a:solidFill>
              <a:srgbClr val="EB6834"/>
            </a:solidFill>
            <a:prstDash val="solid"/>
          </a:ln>
        </p:spPr>
      </p:sp>
      <p:sp>
        <p:nvSpPr>
          <p:cNvPr id="6" name="badge text"/>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731520" y="2148840"/>
            <a:ext cx="1783080" cy="411480"/>
          </a:xfrm>
          <a:prstGeom prst="rect">
            <a:avLst/>
          </a:prstGeom>
          <a:noFill/>
          <a:ln/>
        </p:spPr>
        <p:txBody>
          <a:bodyPr wrap="square" lIns="0" tIns="0" rIns="0" bIns="0" rtlCol="0" anchor="ctr"/>
          <a:lstStyle/>
          <a:p>
            <a:pPr indent="0" marL="0">
              <a:buNone/>
            </a:pPr>
            <a:r>
              <a:rPr lang="en-US" sz="1800" b="1" dirty="0">
                <a:solidFill>
                  <a:srgbClr val="14213D"/>
                </a:solidFill>
              </a:rPr>
              <a:t>XGBoost</a:t>
            </a:r>
            <a:endParaRPr lang="en-US" sz="1800" dirty="0"/>
          </a:p>
        </p:txBody>
      </p:sp>
      <p:sp>
        <p:nvSpPr>
          <p:cNvPr id="8" name="Text 5"/>
          <p:cNvSpPr txBox="1"/>
          <p:nvPr/>
        </p:nvSpPr>
        <p:spPr>
          <a:xfrm>
            <a:off x="731520" y="2542032"/>
            <a:ext cx="1783080" cy="411480"/>
          </a:xfrm>
          <a:prstGeom prst="rect">
            <a:avLst/>
          </a:prstGeom>
          <a:noFill/>
          <a:ln/>
        </p:spPr>
        <p:txBody>
          <a:bodyPr wrap="square" lIns="0" tIns="0" rIns="0" bIns="0" rtlCol="0" anchor="ctr"/>
          <a:lstStyle/>
          <a:p>
            <a:pPr indent="0" marL="0">
              <a:buNone/>
            </a:pPr>
            <a:r>
              <a:rPr lang="en-US" sz="1300" dirty="0">
                <a:solidFill>
                  <a:srgbClr val="6B7280"/>
                </a:solidFill>
              </a:rPr>
              <a:t>gradient boosted trees</a:t>
            </a:r>
            <a:endParaRPr lang="en-US" sz="1300" dirty="0"/>
          </a:p>
        </p:txBody>
      </p:sp>
      <p:sp>
        <p:nvSpPr>
          <p:cNvPr id="9" name="card"/>
          <p:cNvSpPr/>
          <p:nvPr/>
        </p:nvSpPr>
        <p:spPr>
          <a:xfrm>
            <a:off x="2816352" y="1417320"/>
            <a:ext cx="2084832" cy="1600200"/>
          </a:xfrm>
          <a:prstGeom prst="roundRect">
            <a:avLst>
              <a:gd name="adj" fmla="val 4571"/>
            </a:avLst>
          </a:prstGeom>
          <a:solidFill>
            <a:srgbClr val="F3F4F6"/>
          </a:solidFill>
          <a:ln w="12700">
            <a:solidFill>
              <a:srgbClr val="F3F4F6"/>
            </a:solidFill>
            <a:prstDash val="solid"/>
          </a:ln>
        </p:spPr>
      </p:sp>
      <p:sp>
        <p:nvSpPr>
          <p:cNvPr id="10" name="badge"/>
          <p:cNvSpPr/>
          <p:nvPr/>
        </p:nvSpPr>
        <p:spPr>
          <a:xfrm>
            <a:off x="2999232" y="1600200"/>
            <a:ext cx="457200" cy="457200"/>
          </a:xfrm>
          <a:prstGeom prst="ellipse">
            <a:avLst/>
          </a:prstGeom>
          <a:solidFill>
            <a:srgbClr val="EB6834"/>
          </a:solidFill>
          <a:ln w="12700">
            <a:solidFill>
              <a:srgbClr val="EB6834"/>
            </a:solidFill>
            <a:prstDash val="solid"/>
          </a:ln>
        </p:spPr>
      </p:sp>
      <p:sp>
        <p:nvSpPr>
          <p:cNvPr id="11" name="badge text"/>
          <p:cNvSpPr txBox="1"/>
          <p:nvPr/>
        </p:nvSpPr>
        <p:spPr>
          <a:xfrm>
            <a:off x="2999232"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2999232" y="2148840"/>
            <a:ext cx="1783080" cy="411480"/>
          </a:xfrm>
          <a:prstGeom prst="rect">
            <a:avLst/>
          </a:prstGeom>
          <a:noFill/>
          <a:ln/>
        </p:spPr>
        <p:txBody>
          <a:bodyPr wrap="square" lIns="0" tIns="0" rIns="0" bIns="0" rtlCol="0" anchor="ctr"/>
          <a:lstStyle/>
          <a:p>
            <a:pPr indent="0" marL="0">
              <a:buNone/>
            </a:pPr>
            <a:r>
              <a:rPr lang="en-US" sz="1800" b="1" dirty="0">
                <a:solidFill>
                  <a:srgbClr val="14213D"/>
                </a:solidFill>
              </a:rPr>
              <a:t>Keras</a:t>
            </a:r>
            <a:endParaRPr lang="en-US" sz="1800" dirty="0"/>
          </a:p>
        </p:txBody>
      </p:sp>
      <p:sp>
        <p:nvSpPr>
          <p:cNvPr id="13" name="Text 10"/>
          <p:cNvSpPr txBox="1"/>
          <p:nvPr/>
        </p:nvSpPr>
        <p:spPr>
          <a:xfrm>
            <a:off x="2999232" y="2542032"/>
            <a:ext cx="1783080" cy="411480"/>
          </a:xfrm>
          <a:prstGeom prst="rect">
            <a:avLst/>
          </a:prstGeom>
          <a:noFill/>
          <a:ln/>
        </p:spPr>
        <p:txBody>
          <a:bodyPr wrap="square" lIns="0" tIns="0" rIns="0" bIns="0" rtlCol="0" anchor="ctr"/>
          <a:lstStyle/>
          <a:p>
            <a:pPr indent="0" marL="0">
              <a:buNone/>
            </a:pPr>
            <a:r>
              <a:rPr lang="en-US" sz="1300" dirty="0">
                <a:solidFill>
                  <a:srgbClr val="6B7280"/>
                </a:solidFill>
              </a:rPr>
              <a:t>TensorFlow MLP</a:t>
            </a:r>
            <a:endParaRPr lang="en-US" sz="1300" dirty="0"/>
          </a:p>
        </p:txBody>
      </p:sp>
      <p:sp>
        <p:nvSpPr>
          <p:cNvPr id="14" name="card"/>
          <p:cNvSpPr/>
          <p:nvPr/>
        </p:nvSpPr>
        <p:spPr>
          <a:xfrm>
            <a:off x="5084064" y="1417320"/>
            <a:ext cx="2084832" cy="1600200"/>
          </a:xfrm>
          <a:prstGeom prst="roundRect">
            <a:avLst>
              <a:gd name="adj" fmla="val 4571"/>
            </a:avLst>
          </a:prstGeom>
          <a:solidFill>
            <a:srgbClr val="F3F4F6"/>
          </a:solidFill>
          <a:ln w="12700">
            <a:solidFill>
              <a:srgbClr val="F3F4F6"/>
            </a:solidFill>
            <a:prstDash val="solid"/>
          </a:ln>
        </p:spPr>
      </p:sp>
      <p:sp>
        <p:nvSpPr>
          <p:cNvPr id="15" name="badge"/>
          <p:cNvSpPr/>
          <p:nvPr/>
        </p:nvSpPr>
        <p:spPr>
          <a:xfrm>
            <a:off x="5266944" y="1600200"/>
            <a:ext cx="457200" cy="457200"/>
          </a:xfrm>
          <a:prstGeom prst="ellipse">
            <a:avLst/>
          </a:prstGeom>
          <a:solidFill>
            <a:srgbClr val="EB6834"/>
          </a:solidFill>
          <a:ln w="12700">
            <a:solidFill>
              <a:srgbClr val="EB6834"/>
            </a:solidFill>
            <a:prstDash val="solid"/>
          </a:ln>
        </p:spPr>
      </p:sp>
      <p:sp>
        <p:nvSpPr>
          <p:cNvPr id="16" name="badge text"/>
          <p:cNvSpPr txBox="1"/>
          <p:nvPr/>
        </p:nvSpPr>
        <p:spPr>
          <a:xfrm>
            <a:off x="5266944"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5266944" y="2148840"/>
            <a:ext cx="1783080" cy="411480"/>
          </a:xfrm>
          <a:prstGeom prst="rect">
            <a:avLst/>
          </a:prstGeom>
          <a:noFill/>
          <a:ln/>
        </p:spPr>
        <p:txBody>
          <a:bodyPr wrap="square" lIns="0" tIns="0" rIns="0" bIns="0" rtlCol="0" anchor="ctr"/>
          <a:lstStyle/>
          <a:p>
            <a:pPr indent="0" marL="0">
              <a:buNone/>
            </a:pPr>
            <a:r>
              <a:rPr lang="en-US" sz="1800" b="1" dirty="0">
                <a:solidFill>
                  <a:srgbClr val="14213D"/>
                </a:solidFill>
              </a:rPr>
              <a:t>fastai</a:t>
            </a:r>
            <a:endParaRPr lang="en-US" sz="1800" dirty="0"/>
          </a:p>
        </p:txBody>
      </p:sp>
      <p:sp>
        <p:nvSpPr>
          <p:cNvPr id="18" name="Text 15"/>
          <p:cNvSpPr txBox="1"/>
          <p:nvPr/>
        </p:nvSpPr>
        <p:spPr>
          <a:xfrm>
            <a:off x="5266944" y="2542032"/>
            <a:ext cx="1783080" cy="411480"/>
          </a:xfrm>
          <a:prstGeom prst="rect">
            <a:avLst/>
          </a:prstGeom>
          <a:noFill/>
          <a:ln/>
        </p:spPr>
        <p:txBody>
          <a:bodyPr wrap="square" lIns="0" tIns="0" rIns="0" bIns="0" rtlCol="0" anchor="ctr"/>
          <a:lstStyle/>
          <a:p>
            <a:pPr indent="0" marL="0">
              <a:buNone/>
            </a:pPr>
            <a:r>
              <a:rPr lang="en-US" sz="1300" dirty="0">
                <a:solidFill>
                  <a:srgbClr val="6B7280"/>
                </a:solidFill>
              </a:rPr>
              <a:t>PyTorch, one-cycle training</a:t>
            </a:r>
            <a:endParaRPr lang="en-US" sz="1300" dirty="0"/>
          </a:p>
        </p:txBody>
      </p:sp>
      <p:sp>
        <p:nvSpPr>
          <p:cNvPr id="19" name="card"/>
          <p:cNvSpPr/>
          <p:nvPr/>
        </p:nvSpPr>
        <p:spPr>
          <a:xfrm>
            <a:off x="7351776" y="1417320"/>
            <a:ext cx="2084832" cy="1600200"/>
          </a:xfrm>
          <a:prstGeom prst="roundRect">
            <a:avLst>
              <a:gd name="adj" fmla="val 4571"/>
            </a:avLst>
          </a:prstGeom>
          <a:solidFill>
            <a:srgbClr val="F3F4F6"/>
          </a:solidFill>
          <a:ln w="12700">
            <a:solidFill>
              <a:srgbClr val="F3F4F6"/>
            </a:solidFill>
            <a:prstDash val="solid"/>
          </a:ln>
        </p:spPr>
      </p:sp>
      <p:sp>
        <p:nvSpPr>
          <p:cNvPr id="20" name="badge"/>
          <p:cNvSpPr/>
          <p:nvPr/>
        </p:nvSpPr>
        <p:spPr>
          <a:xfrm>
            <a:off x="7534656" y="1600200"/>
            <a:ext cx="457200" cy="457200"/>
          </a:xfrm>
          <a:prstGeom prst="ellipse">
            <a:avLst/>
          </a:prstGeom>
          <a:solidFill>
            <a:srgbClr val="EB6834"/>
          </a:solidFill>
          <a:ln w="12700">
            <a:solidFill>
              <a:srgbClr val="EB6834"/>
            </a:solidFill>
            <a:prstDash val="solid"/>
          </a:ln>
        </p:spPr>
      </p:sp>
      <p:sp>
        <p:nvSpPr>
          <p:cNvPr id="21" name="badge text"/>
          <p:cNvSpPr txBox="1"/>
          <p:nvPr/>
        </p:nvSpPr>
        <p:spPr>
          <a:xfrm>
            <a:off x="7534656"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19"/>
          <p:cNvSpPr txBox="1"/>
          <p:nvPr/>
        </p:nvSpPr>
        <p:spPr>
          <a:xfrm>
            <a:off x="7534656" y="2148840"/>
            <a:ext cx="1783080" cy="411480"/>
          </a:xfrm>
          <a:prstGeom prst="rect">
            <a:avLst/>
          </a:prstGeom>
          <a:noFill/>
          <a:ln/>
        </p:spPr>
        <p:txBody>
          <a:bodyPr wrap="square" lIns="0" tIns="0" rIns="0" bIns="0" rtlCol="0" anchor="ctr"/>
          <a:lstStyle/>
          <a:p>
            <a:pPr indent="0" marL="0">
              <a:buNone/>
            </a:pPr>
            <a:r>
              <a:rPr lang="en-US" sz="1800" b="1" dirty="0">
                <a:solidFill>
                  <a:srgbClr val="14213D"/>
                </a:solidFill>
              </a:rPr>
              <a:t>TabNet</a:t>
            </a:r>
            <a:endParaRPr lang="en-US" sz="1800" dirty="0"/>
          </a:p>
        </p:txBody>
      </p:sp>
      <p:sp>
        <p:nvSpPr>
          <p:cNvPr id="23" name="Text 20"/>
          <p:cNvSpPr txBox="1"/>
          <p:nvPr/>
        </p:nvSpPr>
        <p:spPr>
          <a:xfrm>
            <a:off x="7534656" y="2542032"/>
            <a:ext cx="1783080" cy="411480"/>
          </a:xfrm>
          <a:prstGeom prst="rect">
            <a:avLst/>
          </a:prstGeom>
          <a:noFill/>
          <a:ln/>
        </p:spPr>
        <p:txBody>
          <a:bodyPr wrap="square" lIns="0" tIns="0" rIns="0" bIns="0" rtlCol="0" anchor="ctr"/>
          <a:lstStyle/>
          <a:p>
            <a:pPr indent="0" marL="0">
              <a:buNone/>
            </a:pPr>
            <a:r>
              <a:rPr lang="en-US" sz="1300" dirty="0">
                <a:solidFill>
                  <a:srgbClr val="6B7280"/>
                </a:solidFill>
              </a:rPr>
              <a:t>PyTorch, attention masks</a:t>
            </a:r>
            <a:endParaRPr lang="en-US" sz="1300" dirty="0"/>
          </a:p>
        </p:txBody>
      </p:sp>
      <p:sp>
        <p:nvSpPr>
          <p:cNvPr id="24" name="card"/>
          <p:cNvSpPr/>
          <p:nvPr/>
        </p:nvSpPr>
        <p:spPr>
          <a:xfrm>
            <a:off x="9619488" y="1417320"/>
            <a:ext cx="2084832" cy="1600200"/>
          </a:xfrm>
          <a:prstGeom prst="roundRect">
            <a:avLst>
              <a:gd name="adj" fmla="val 4571"/>
            </a:avLst>
          </a:prstGeom>
          <a:solidFill>
            <a:srgbClr val="F3F4F6"/>
          </a:solidFill>
          <a:ln w="12700">
            <a:solidFill>
              <a:srgbClr val="F3F4F6"/>
            </a:solidFill>
            <a:prstDash val="solid"/>
          </a:ln>
        </p:spPr>
      </p:sp>
      <p:sp>
        <p:nvSpPr>
          <p:cNvPr id="25" name="badge"/>
          <p:cNvSpPr/>
          <p:nvPr/>
        </p:nvSpPr>
        <p:spPr>
          <a:xfrm>
            <a:off x="9802368" y="1600200"/>
            <a:ext cx="457200" cy="457200"/>
          </a:xfrm>
          <a:prstGeom prst="ellipse">
            <a:avLst/>
          </a:prstGeom>
          <a:solidFill>
            <a:srgbClr val="EB6834"/>
          </a:solidFill>
          <a:ln w="12700">
            <a:solidFill>
              <a:srgbClr val="EB6834"/>
            </a:solidFill>
            <a:prstDash val="solid"/>
          </a:ln>
        </p:spPr>
      </p:sp>
      <p:sp>
        <p:nvSpPr>
          <p:cNvPr id="26" name="badge text"/>
          <p:cNvSpPr txBox="1"/>
          <p:nvPr/>
        </p:nvSpPr>
        <p:spPr>
          <a:xfrm>
            <a:off x="9802368"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Text 24"/>
          <p:cNvSpPr txBox="1"/>
          <p:nvPr/>
        </p:nvSpPr>
        <p:spPr>
          <a:xfrm>
            <a:off x="9802368" y="2148840"/>
            <a:ext cx="1783080" cy="411480"/>
          </a:xfrm>
          <a:prstGeom prst="rect">
            <a:avLst/>
          </a:prstGeom>
          <a:noFill/>
          <a:ln/>
        </p:spPr>
        <p:txBody>
          <a:bodyPr wrap="square" lIns="0" tIns="0" rIns="0" bIns="0" rtlCol="0" anchor="ctr"/>
          <a:lstStyle/>
          <a:p>
            <a:pPr indent="0" marL="0">
              <a:buNone/>
            </a:pPr>
            <a:r>
              <a:rPr lang="en-US" sz="1800" b="1" dirty="0">
                <a:solidFill>
                  <a:srgbClr val="14213D"/>
                </a:solidFill>
              </a:rPr>
              <a:t>Lightning Flash</a:t>
            </a:r>
            <a:endParaRPr lang="en-US" sz="1800" dirty="0"/>
          </a:p>
        </p:txBody>
      </p:sp>
      <p:sp>
        <p:nvSpPr>
          <p:cNvPr id="28" name="Text 25"/>
          <p:cNvSpPr txBox="1"/>
          <p:nvPr/>
        </p:nvSpPr>
        <p:spPr>
          <a:xfrm>
            <a:off x="9802368" y="2542032"/>
            <a:ext cx="1783080" cy="411480"/>
          </a:xfrm>
          <a:prstGeom prst="rect">
            <a:avLst/>
          </a:prstGeom>
          <a:noFill/>
          <a:ln/>
        </p:spPr>
        <p:txBody>
          <a:bodyPr wrap="square" lIns="0" tIns="0" rIns="0" bIns="0" rtlCol="0" anchor="ctr"/>
          <a:lstStyle/>
          <a:p>
            <a:pPr indent="0" marL="0">
              <a:buNone/>
            </a:pPr>
            <a:r>
              <a:rPr lang="en-US" sz="1300" dirty="0">
                <a:solidFill>
                  <a:srgbClr val="6B7280"/>
                </a:solidFill>
              </a:rPr>
              <a:t>PyTorch, task library</a:t>
            </a:r>
            <a:endParaRPr lang="en-US" sz="1300" dirty="0"/>
          </a:p>
        </p:txBody>
      </p:sp>
      <p:sp>
        <p:nvSpPr>
          <p:cNvPr id="29" name="bullets"/>
          <p:cNvSpPr txBox="1"/>
          <p:nvPr/>
        </p:nvSpPr>
        <p:spPr>
          <a:xfrm>
            <a:off x="548640" y="3383280"/>
            <a:ext cx="11064240" cy="2743200"/>
          </a:xfrm>
          <a:prstGeom prst="rect">
            <a:avLst/>
          </a:prstGeom>
          <a:noFill/>
          <a:ln/>
        </p:spPr>
        <p:txBody>
          <a:bodyPr wrap="square" rtlCol="0" anchor="t"/>
          <a:lstStyle/>
          <a:p>
            <a:pPr marL="342900" indent="-342900">
              <a:spcAft>
                <a:spcPts val="800"/>
              </a:spcAft>
              <a:buSzPct val="100000"/>
              <a:buChar char="•"/>
            </a:pPr>
            <a:r>
              <a:rPr lang="en-US" sz="1800" dirty="0">
                <a:solidFill>
                  <a:srgbClr val="1F2937"/>
                </a:solidFill>
              </a:rPr>
              <a:t>Collect daily data from 2010 to 2026 (Yahoo Finance and FRED)</a:t>
            </a:r>
            <a:endParaRPr lang="en-US" sz="1800" dirty="0"/>
          </a:p>
          <a:p>
            <a:pPr marL="342900" indent="-342900">
              <a:spcAft>
                <a:spcPts val="800"/>
              </a:spcAft>
              <a:buSzPct val="100000"/>
              <a:buChar char="•"/>
            </a:pPr>
            <a:r>
              <a:rPr lang="en-US" sz="1800" dirty="0">
                <a:solidFill>
                  <a:srgbClr val="1F2937"/>
                </a:solidFill>
              </a:rPr>
              <a:t>Explore the data (EDA) and choose a sensible target</a:t>
            </a:r>
            <a:endParaRPr lang="en-US" sz="1800" dirty="0"/>
          </a:p>
          <a:p>
            <a:pPr marL="342900" indent="-342900">
              <a:spcAft>
                <a:spcPts val="800"/>
              </a:spcAft>
              <a:buSzPct val="100000"/>
              <a:buChar char="•"/>
            </a:pPr>
            <a:r>
              <a:rPr lang="en-US" sz="1800" dirty="0">
                <a:solidFill>
                  <a:srgbClr val="1F2937"/>
                </a:solidFill>
              </a:rPr>
              <a:t>Train the 5 frameworks plus 2 baselines: naive "no change" and linear regression</a:t>
            </a:r>
            <a:endParaRPr lang="en-US" sz="1800" dirty="0"/>
          </a:p>
          <a:p>
            <a:pPr marL="342900" indent="-342900">
              <a:spcAft>
                <a:spcPts val="800"/>
              </a:spcAft>
              <a:buSzPct val="100000"/>
              <a:buChar char="•"/>
            </a:pPr>
            <a:r>
              <a:rPr lang="en-US" sz="1800" dirty="0">
                <a:solidFill>
                  <a:srgbClr val="1F2937"/>
                </a:solidFill>
              </a:rPr>
              <a:t>Compare on Simplicity, Transparency, Efficacy and on RMSE, MAE, R²</a:t>
            </a:r>
            <a:endParaRPr lang="en-US" sz="1800" dirty="0"/>
          </a:p>
          <a:p>
            <a:pPr marL="342900" indent="-342900">
              <a:spcAft>
                <a:spcPts val="800"/>
              </a:spcAft>
              <a:buSzPct val="100000"/>
              <a:buChar char="•"/>
            </a:pPr>
            <a:r>
              <a:rPr lang="en-US" sz="1800" dirty="0">
                <a:solidFill>
                  <a:srgbClr val="1F2937"/>
                </a:solidFill>
              </a:rPr>
              <a:t>Check whether any model is really better than the naive forecast</a:t>
            </a:r>
            <a:endParaRPr lang="en-US" sz="18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Data: Yahoo Finance and FRED</a:t>
            </a:r>
            <a:endParaRPr lang="en-US" sz="3000" dirty="0"/>
          </a:p>
        </p:txBody>
      </p:sp>
      <p:sp>
        <p:nvSpPr>
          <p:cNvPr id="4" name="card"/>
          <p:cNvSpPr/>
          <p:nvPr/>
        </p:nvSpPr>
        <p:spPr>
          <a:xfrm>
            <a:off x="548640" y="1371600"/>
            <a:ext cx="5394960" cy="2606040"/>
          </a:xfrm>
          <a:prstGeom prst="roundRect">
            <a:avLst>
              <a:gd name="adj" fmla="val 2807"/>
            </a:avLst>
          </a:prstGeom>
          <a:solidFill>
            <a:srgbClr val="F3F4F6"/>
          </a:solidFill>
          <a:ln w="12700">
            <a:solidFill>
              <a:srgbClr val="F3F4F6"/>
            </a:solidFill>
            <a:prstDash val="solid"/>
          </a:ln>
        </p:spPr>
      </p:sp>
      <p:sp>
        <p:nvSpPr>
          <p:cNvPr id="5" name="card"/>
          <p:cNvSpPr/>
          <p:nvPr/>
        </p:nvSpPr>
        <p:spPr>
          <a:xfrm>
            <a:off x="6263640" y="1371600"/>
            <a:ext cx="5394960" cy="2606040"/>
          </a:xfrm>
          <a:prstGeom prst="roundRect">
            <a:avLst>
              <a:gd name="adj" fmla="val 2807"/>
            </a:avLst>
          </a:prstGeom>
          <a:solidFill>
            <a:srgbClr val="F3F4F6"/>
          </a:solidFill>
          <a:ln w="12700">
            <a:solidFill>
              <a:srgbClr val="F3F4F6"/>
            </a:solidFill>
            <a:prstDash val="solid"/>
          </a:ln>
        </p:spPr>
      </p:sp>
      <p:sp>
        <p:nvSpPr>
          <p:cNvPr id="6" name="Text 3"/>
          <p:cNvSpPr txBox="1"/>
          <p:nvPr/>
        </p:nvSpPr>
        <p:spPr>
          <a:xfrm>
            <a:off x="777240" y="1508760"/>
            <a:ext cx="4937760" cy="457200"/>
          </a:xfrm>
          <a:prstGeom prst="rect">
            <a:avLst/>
          </a:prstGeom>
          <a:noFill/>
          <a:ln/>
        </p:spPr>
        <p:txBody>
          <a:bodyPr wrap="square" lIns="0" tIns="0" rIns="0" bIns="0" rtlCol="0" anchor="ctr"/>
          <a:lstStyle/>
          <a:p>
            <a:pPr indent="0" marL="0">
              <a:buNone/>
            </a:pPr>
            <a:r>
              <a:rPr lang="en-US" sz="2000" b="1" dirty="0">
                <a:solidFill>
                  <a:srgbClr val="14213D"/>
                </a:solidFill>
              </a:rPr>
              <a:t>FRED (Federal Reserve)</a:t>
            </a:r>
            <a:endParaRPr lang="en-US" sz="2000" dirty="0"/>
          </a:p>
        </p:txBody>
      </p:sp>
      <p:sp>
        <p:nvSpPr>
          <p:cNvPr id="7" name="bullets"/>
          <p:cNvSpPr txBox="1"/>
          <p:nvPr/>
        </p:nvSpPr>
        <p:spPr>
          <a:xfrm>
            <a:off x="777240" y="2057400"/>
            <a:ext cx="4937760" cy="1828800"/>
          </a:xfrm>
          <a:prstGeom prst="rect">
            <a:avLst/>
          </a:prstGeom>
          <a:noFill/>
          <a:ln/>
        </p:spPr>
        <p:txBody>
          <a:bodyPr wrap="square" rtlCol="0" anchor="t"/>
          <a:lstStyle/>
          <a:p>
            <a:pPr marL="342900" indent="-342900">
              <a:spcAft>
                <a:spcPts val="800"/>
              </a:spcAft>
              <a:buSzPct val="100000"/>
              <a:buChar char="•"/>
            </a:pPr>
            <a:r>
              <a:rPr lang="en-US" sz="1600" dirty="0">
                <a:solidFill>
                  <a:srgbClr val="1F2937"/>
                </a:solidFill>
              </a:rPr>
              <a:t>8 Treasury yields: 1M, 3M, 1Y, 2Y, 5Y, 7Y, 10Y, 30Y</a:t>
            </a:r>
            <a:endParaRPr lang="en-US" sz="1600" dirty="0"/>
          </a:p>
          <a:p>
            <a:pPr marL="342900" indent="-342900">
              <a:spcAft>
                <a:spcPts val="800"/>
              </a:spcAft>
              <a:buSzPct val="100000"/>
              <a:buChar char="•"/>
            </a:pPr>
            <a:r>
              <a:rPr lang="en-US" sz="1600" dirty="0">
                <a:solidFill>
                  <a:srgbClr val="1F2937"/>
                </a:solidFill>
              </a:rPr>
              <a:t>Baa corporate spread over the 10Y</a:t>
            </a:r>
            <a:endParaRPr lang="en-US" sz="1600" dirty="0"/>
          </a:p>
          <a:p>
            <a:pPr marL="342900" indent="-342900">
              <a:spcAft>
                <a:spcPts val="800"/>
              </a:spcAft>
              <a:buSzPct val="100000"/>
              <a:buChar char="•"/>
            </a:pPr>
            <a:r>
              <a:rPr lang="en-US" sz="1600" dirty="0">
                <a:solidFill>
                  <a:srgbClr val="1F2937"/>
                </a:solidFill>
              </a:rPr>
              <a:t>Debt held by the Fed, the public and foreign investors (weekly and quarterly)</a:t>
            </a:r>
            <a:endParaRPr lang="en-US" sz="1600" dirty="0"/>
          </a:p>
        </p:txBody>
      </p:sp>
      <p:sp>
        <p:nvSpPr>
          <p:cNvPr id="8" name="Text 5"/>
          <p:cNvSpPr txBox="1"/>
          <p:nvPr/>
        </p:nvSpPr>
        <p:spPr>
          <a:xfrm>
            <a:off x="6492240" y="1508760"/>
            <a:ext cx="4937760" cy="457200"/>
          </a:xfrm>
          <a:prstGeom prst="rect">
            <a:avLst/>
          </a:prstGeom>
          <a:noFill/>
          <a:ln/>
        </p:spPr>
        <p:txBody>
          <a:bodyPr wrap="square" lIns="0" tIns="0" rIns="0" bIns="0" rtlCol="0" anchor="ctr"/>
          <a:lstStyle/>
          <a:p>
            <a:pPr indent="0" marL="0">
              <a:buNone/>
            </a:pPr>
            <a:r>
              <a:rPr lang="en-US" sz="2000" b="1" dirty="0">
                <a:solidFill>
                  <a:srgbClr val="14213D"/>
                </a:solidFill>
              </a:rPr>
              <a:t>Yahoo Finance (yfinance)</a:t>
            </a:r>
            <a:endParaRPr lang="en-US" sz="2000" dirty="0"/>
          </a:p>
        </p:txBody>
      </p:sp>
      <p:sp>
        <p:nvSpPr>
          <p:cNvPr id="9" name="bullets"/>
          <p:cNvSpPr txBox="1"/>
          <p:nvPr/>
        </p:nvSpPr>
        <p:spPr>
          <a:xfrm>
            <a:off x="6492240" y="2057400"/>
            <a:ext cx="4937760" cy="1828800"/>
          </a:xfrm>
          <a:prstGeom prst="rect">
            <a:avLst/>
          </a:prstGeom>
          <a:noFill/>
          <a:ln/>
        </p:spPr>
        <p:txBody>
          <a:bodyPr wrap="square" rtlCol="0" anchor="t"/>
          <a:lstStyle/>
          <a:p>
            <a:pPr marL="342900" indent="-342900">
              <a:spcAft>
                <a:spcPts val="800"/>
              </a:spcAft>
              <a:buSzPct val="100000"/>
              <a:buChar char="•"/>
            </a:pPr>
            <a:r>
              <a:rPr lang="en-US" sz="1600" dirty="0">
                <a:solidFill>
                  <a:srgbClr val="1F2937"/>
                </a:solidFill>
              </a:rPr>
              <a:t>Yield indices ^IRX, ^FVX, ^TNX, ^TYX, used as a cross-check</a:t>
            </a:r>
            <a:endParaRPr lang="en-US" sz="1600" dirty="0"/>
          </a:p>
          <a:p>
            <a:pPr marL="342900" indent="-342900">
              <a:spcAft>
                <a:spcPts val="800"/>
              </a:spcAft>
              <a:buSzPct val="100000"/>
              <a:buChar char="•"/>
            </a:pPr>
            <a:r>
              <a:rPr lang="en-US" sz="1600" dirty="0">
                <a:solidFill>
                  <a:srgbClr val="1F2937"/>
                </a:solidFill>
              </a:rPr>
              <a:t>VIX, S&amp;P 500, Brent oil, gold, US dollar index</a:t>
            </a:r>
            <a:endParaRPr lang="en-US" sz="1600" dirty="0"/>
          </a:p>
          <a:p>
            <a:pPr marL="342900" indent="-342900">
              <a:spcAft>
                <a:spcPts val="800"/>
              </a:spcAft>
              <a:buSzPct val="100000"/>
              <a:buChar char="•"/>
            </a:pPr>
            <a:r>
              <a:rPr lang="en-US" sz="1600" dirty="0">
                <a:solidFill>
                  <a:srgbClr val="1F2937"/>
                </a:solidFill>
              </a:rPr>
              <a:t>No 1M yield and no debt data, so FRED is needed</a:t>
            </a:r>
            <a:endParaRPr lang="en-US" sz="1600" dirty="0"/>
          </a:p>
        </p:txBody>
      </p:sp>
      <p:sp>
        <p:nvSpPr>
          <p:cNvPr id="10" name="stat value"/>
          <p:cNvSpPr txBox="1"/>
          <p:nvPr/>
        </p:nvSpPr>
        <p:spPr>
          <a:xfrm>
            <a:off x="548640" y="4343400"/>
            <a:ext cx="3657600" cy="822960"/>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4,189</a:t>
            </a:r>
            <a:endParaRPr lang="en-US" sz="4000" dirty="0"/>
          </a:p>
        </p:txBody>
      </p:sp>
      <p:sp>
        <p:nvSpPr>
          <p:cNvPr id="11" name="stat label"/>
          <p:cNvSpPr txBox="1"/>
          <p:nvPr/>
        </p:nvSpPr>
        <p:spPr>
          <a:xfrm>
            <a:off x="548640" y="5166360"/>
            <a:ext cx="3657600" cy="685800"/>
          </a:xfrm>
          <a:prstGeom prst="rect">
            <a:avLst/>
          </a:prstGeom>
          <a:noFill/>
          <a:ln/>
        </p:spPr>
        <p:txBody>
          <a:bodyPr wrap="square" lIns="0" tIns="0" rIns="0" bIns="0" rtlCol="0" anchor="t"/>
          <a:lstStyle/>
          <a:p>
            <a:pPr indent="0" marL="0">
              <a:buNone/>
            </a:pPr>
            <a:r>
              <a:rPr lang="en-US" sz="1400" dirty="0">
                <a:solidFill>
                  <a:srgbClr val="6B7280"/>
                </a:solidFill>
              </a:rPr>
              <a:t>trading days, Jan 2010 to Sep 2026</a:t>
            </a:r>
            <a:endParaRPr lang="en-US" sz="1400" dirty="0"/>
          </a:p>
        </p:txBody>
      </p:sp>
      <p:sp>
        <p:nvSpPr>
          <p:cNvPr id="12" name="stat value"/>
          <p:cNvSpPr txBox="1"/>
          <p:nvPr/>
        </p:nvSpPr>
        <p:spPr>
          <a:xfrm>
            <a:off x="4343400" y="4343400"/>
            <a:ext cx="3657600" cy="822960"/>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&lt; 1 bp</a:t>
            </a:r>
            <a:endParaRPr lang="en-US" sz="4000" dirty="0"/>
          </a:p>
        </p:txBody>
      </p:sp>
      <p:sp>
        <p:nvSpPr>
          <p:cNvPr id="13" name="stat label"/>
          <p:cNvSpPr txBox="1"/>
          <p:nvPr/>
        </p:nvSpPr>
        <p:spPr>
          <a:xfrm>
            <a:off x="4343400" y="5166360"/>
            <a:ext cx="3657600" cy="685800"/>
          </a:xfrm>
          <a:prstGeom prst="rect">
            <a:avLst/>
          </a:prstGeom>
          <a:noFill/>
          <a:ln/>
        </p:spPr>
        <p:txBody>
          <a:bodyPr wrap="square" lIns="0" tIns="0" rIns="0" bIns="0" rtlCol="0" anchor="t"/>
          <a:lstStyle/>
          <a:p>
            <a:pPr indent="0" marL="0">
              <a:buNone/>
            </a:pPr>
            <a:r>
              <a:rPr lang="en-US" sz="1400" dirty="0">
                <a:solidFill>
                  <a:srgbClr val="6B7280"/>
                </a:solidFill>
              </a:rPr>
              <a:t>average gap between Yahoo and FRED (5Y, 10Y, 30Y)</a:t>
            </a:r>
            <a:endParaRPr lang="en-US" sz="1400" dirty="0"/>
          </a:p>
        </p:txBody>
      </p:sp>
      <p:sp>
        <p:nvSpPr>
          <p:cNvPr id="14" name="stat value"/>
          <p:cNvSpPr txBox="1"/>
          <p:nvPr/>
        </p:nvSpPr>
        <p:spPr>
          <a:xfrm>
            <a:off x="8138160" y="4343400"/>
            <a:ext cx="3474720" cy="822960"/>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23</a:t>
            </a:r>
            <a:endParaRPr lang="en-US" sz="4000" dirty="0"/>
          </a:p>
        </p:txBody>
      </p:sp>
      <p:sp>
        <p:nvSpPr>
          <p:cNvPr id="15" name="stat label"/>
          <p:cNvSpPr txBox="1"/>
          <p:nvPr/>
        </p:nvSpPr>
        <p:spPr>
          <a:xfrm>
            <a:off x="8138160" y="5166360"/>
            <a:ext cx="3474720" cy="685800"/>
          </a:xfrm>
          <a:prstGeom prst="rect">
            <a:avLst/>
          </a:prstGeom>
          <a:noFill/>
          <a:ln/>
        </p:spPr>
        <p:txBody>
          <a:bodyPr wrap="square" lIns="0" tIns="0" rIns="0" bIns="0" rtlCol="0" anchor="t"/>
          <a:lstStyle/>
          <a:p>
            <a:pPr indent="0" marL="0">
              <a:buNone/>
            </a:pPr>
            <a:r>
              <a:rPr lang="en-US" sz="1400" dirty="0">
                <a:solidFill>
                  <a:srgbClr val="6B7280"/>
                </a:solidFill>
              </a:rPr>
              <a:t>features after feature engineering</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Project pipeline</a:t>
            </a:r>
            <a:endParaRPr lang="en-US" sz="3000" dirty="0"/>
          </a:p>
        </p:txBody>
      </p:sp>
      <p:sp>
        <p:nvSpPr>
          <p:cNvPr id="4" name="card"/>
          <p:cNvSpPr/>
          <p:nvPr/>
        </p:nvSpPr>
        <p:spPr>
          <a:xfrm>
            <a:off x="548640" y="1828800"/>
            <a:ext cx="1691640" cy="2377440"/>
          </a:xfrm>
          <a:prstGeom prst="roundRect">
            <a:avLst>
              <a:gd name="adj" fmla="val 4324"/>
            </a:avLst>
          </a:prstGeom>
          <a:solidFill>
            <a:srgbClr val="F3F4F6"/>
          </a:solidFill>
          <a:ln w="12700">
            <a:solidFill>
              <a:srgbClr val="F3F4F6"/>
            </a:solidFill>
            <a:prstDash val="solid"/>
          </a:ln>
        </p:spPr>
      </p:sp>
      <p:sp>
        <p:nvSpPr>
          <p:cNvPr id="5" name="badge"/>
          <p:cNvSpPr/>
          <p:nvPr/>
        </p:nvSpPr>
        <p:spPr>
          <a:xfrm>
            <a:off x="1161288" y="2011680"/>
            <a:ext cx="457200" cy="457200"/>
          </a:xfrm>
          <a:prstGeom prst="ellipse">
            <a:avLst/>
          </a:prstGeom>
          <a:solidFill>
            <a:srgbClr val="2A78D6"/>
          </a:solidFill>
          <a:ln w="12700">
            <a:solidFill>
              <a:srgbClr val="2A78D6"/>
            </a:solidFill>
            <a:prstDash val="solid"/>
          </a:ln>
        </p:spPr>
      </p:sp>
      <p:sp>
        <p:nvSpPr>
          <p:cNvPr id="6" name="badge text"/>
          <p:cNvSpPr txBox="1"/>
          <p:nvPr/>
        </p:nvSpPr>
        <p:spPr>
          <a:xfrm>
            <a:off x="116128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640080" y="2606040"/>
            <a:ext cx="1508760" cy="457200"/>
          </a:xfrm>
          <a:prstGeom prst="rect">
            <a:avLst/>
          </a:prstGeom>
          <a:noFill/>
          <a:ln/>
        </p:spPr>
        <p:txBody>
          <a:bodyPr wrap="square" lIns="0" tIns="0" rIns="0" bIns="0" rtlCol="0" anchor="ctr"/>
          <a:lstStyle/>
          <a:p>
            <a:pPr algn="ctr" indent="0" marL="0">
              <a:buNone/>
            </a:pPr>
            <a:r>
              <a:rPr lang="en-US" sz="1600" b="1" dirty="0">
                <a:solidFill>
                  <a:srgbClr val="14213D"/>
                </a:solidFill>
              </a:rPr>
              <a:t>Collect</a:t>
            </a:r>
            <a:endParaRPr lang="en-US" sz="1600" dirty="0"/>
          </a:p>
        </p:txBody>
      </p:sp>
      <p:sp>
        <p:nvSpPr>
          <p:cNvPr id="8" name="Text 5"/>
          <p:cNvSpPr txBox="1"/>
          <p:nvPr/>
        </p:nvSpPr>
        <p:spPr>
          <a:xfrm>
            <a:off x="658368" y="3063240"/>
            <a:ext cx="1472184" cy="1005840"/>
          </a:xfrm>
          <a:prstGeom prst="rect">
            <a:avLst/>
          </a:prstGeom>
          <a:noFill/>
          <a:ln/>
        </p:spPr>
        <p:txBody>
          <a:bodyPr wrap="square" lIns="0" tIns="0" rIns="0" bIns="0" rtlCol="0" anchor="t"/>
          <a:lstStyle/>
          <a:p>
            <a:pPr algn="ctr" indent="0" marL="0">
              <a:buNone/>
            </a:pPr>
            <a:r>
              <a:rPr lang="en-US" sz="1300" dirty="0">
                <a:solidFill>
                  <a:srgbClr val="6B7280"/>
                </a:solidFill>
              </a:rPr>
              <a:t>FRED + Yahoo, raw CSVs</a:t>
            </a:r>
            <a:endParaRPr lang="en-US" sz="1300" dirty="0"/>
          </a:p>
        </p:txBody>
      </p:sp>
      <p:sp>
        <p:nvSpPr>
          <p:cNvPr id="9" name="Shape 6"/>
          <p:cNvSpPr/>
          <p:nvPr/>
        </p:nvSpPr>
        <p:spPr>
          <a:xfrm>
            <a:off x="2286000" y="2880360"/>
            <a:ext cx="137160" cy="274320"/>
          </a:xfrm>
          <a:prstGeom prst="rtTriangle">
            <a:avLst/>
          </a:prstGeom>
          <a:solidFill>
            <a:srgbClr val="CBD5E1"/>
          </a:solidFill>
          <a:ln w="12700">
            <a:solidFill>
              <a:srgbClr val="CBD5E1"/>
            </a:solidFill>
            <a:prstDash val="solid"/>
          </a:ln>
        </p:spPr>
      </p:sp>
      <p:sp>
        <p:nvSpPr>
          <p:cNvPr id="10" name="card"/>
          <p:cNvSpPr/>
          <p:nvPr/>
        </p:nvSpPr>
        <p:spPr>
          <a:xfrm>
            <a:off x="2468880" y="1828800"/>
            <a:ext cx="1691640" cy="2377440"/>
          </a:xfrm>
          <a:prstGeom prst="roundRect">
            <a:avLst>
              <a:gd name="adj" fmla="val 4324"/>
            </a:avLst>
          </a:prstGeom>
          <a:solidFill>
            <a:srgbClr val="F3F4F6"/>
          </a:solidFill>
          <a:ln w="12700">
            <a:solidFill>
              <a:srgbClr val="F3F4F6"/>
            </a:solidFill>
            <a:prstDash val="solid"/>
          </a:ln>
        </p:spPr>
      </p:sp>
      <p:sp>
        <p:nvSpPr>
          <p:cNvPr id="11" name="badge"/>
          <p:cNvSpPr/>
          <p:nvPr/>
        </p:nvSpPr>
        <p:spPr>
          <a:xfrm>
            <a:off x="3081528" y="2011680"/>
            <a:ext cx="457200" cy="457200"/>
          </a:xfrm>
          <a:prstGeom prst="ellipse">
            <a:avLst/>
          </a:prstGeom>
          <a:solidFill>
            <a:srgbClr val="2A78D6"/>
          </a:solidFill>
          <a:ln w="12700">
            <a:solidFill>
              <a:srgbClr val="2A78D6"/>
            </a:solidFill>
            <a:prstDash val="solid"/>
          </a:ln>
        </p:spPr>
      </p:sp>
      <p:sp>
        <p:nvSpPr>
          <p:cNvPr id="12" name="badge text"/>
          <p:cNvSpPr txBox="1"/>
          <p:nvPr/>
        </p:nvSpPr>
        <p:spPr>
          <a:xfrm>
            <a:off x="308152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2560320" y="2606040"/>
            <a:ext cx="1508760" cy="457200"/>
          </a:xfrm>
          <a:prstGeom prst="rect">
            <a:avLst/>
          </a:prstGeom>
          <a:noFill/>
          <a:ln/>
        </p:spPr>
        <p:txBody>
          <a:bodyPr wrap="square" lIns="0" tIns="0" rIns="0" bIns="0" rtlCol="0" anchor="ctr"/>
          <a:lstStyle/>
          <a:p>
            <a:pPr algn="ctr" indent="0" marL="0">
              <a:buNone/>
            </a:pPr>
            <a:r>
              <a:rPr lang="en-US" sz="1600" b="1" dirty="0">
                <a:solidFill>
                  <a:srgbClr val="14213D"/>
                </a:solidFill>
              </a:rPr>
              <a:t>Prepare</a:t>
            </a:r>
            <a:endParaRPr lang="en-US" sz="1600" dirty="0"/>
          </a:p>
        </p:txBody>
      </p:sp>
      <p:sp>
        <p:nvSpPr>
          <p:cNvPr id="14" name="Text 11"/>
          <p:cNvSpPr txBox="1"/>
          <p:nvPr/>
        </p:nvSpPr>
        <p:spPr>
          <a:xfrm>
            <a:off x="2578608" y="3063240"/>
            <a:ext cx="1472184" cy="1005840"/>
          </a:xfrm>
          <a:prstGeom prst="rect">
            <a:avLst/>
          </a:prstGeom>
          <a:noFill/>
          <a:ln/>
        </p:spPr>
        <p:txBody>
          <a:bodyPr wrap="square" lIns="0" tIns="0" rIns="0" bIns="0" rtlCol="0" anchor="t"/>
          <a:lstStyle/>
          <a:p>
            <a:pPr algn="ctr" indent="0" marL="0">
              <a:buNone/>
            </a:pPr>
            <a:r>
              <a:rPr lang="en-US" sz="1300" dirty="0">
                <a:solidFill>
                  <a:srgbClr val="6B7280"/>
                </a:solidFill>
              </a:rPr>
              <a:t>one calendar, publication lag, debt shares</a:t>
            </a:r>
            <a:endParaRPr lang="en-US" sz="1300" dirty="0"/>
          </a:p>
        </p:txBody>
      </p:sp>
      <p:sp>
        <p:nvSpPr>
          <p:cNvPr id="15" name="Shape 12"/>
          <p:cNvSpPr/>
          <p:nvPr/>
        </p:nvSpPr>
        <p:spPr>
          <a:xfrm>
            <a:off x="4206240" y="2880360"/>
            <a:ext cx="137160" cy="274320"/>
          </a:xfrm>
          <a:prstGeom prst="rtTriangle">
            <a:avLst/>
          </a:prstGeom>
          <a:solidFill>
            <a:srgbClr val="CBD5E1"/>
          </a:solidFill>
          <a:ln w="12700">
            <a:solidFill>
              <a:srgbClr val="CBD5E1"/>
            </a:solidFill>
            <a:prstDash val="solid"/>
          </a:ln>
        </p:spPr>
      </p:sp>
      <p:sp>
        <p:nvSpPr>
          <p:cNvPr id="16" name="card"/>
          <p:cNvSpPr/>
          <p:nvPr/>
        </p:nvSpPr>
        <p:spPr>
          <a:xfrm>
            <a:off x="4389120" y="1828800"/>
            <a:ext cx="1691640" cy="2377440"/>
          </a:xfrm>
          <a:prstGeom prst="roundRect">
            <a:avLst>
              <a:gd name="adj" fmla="val 4324"/>
            </a:avLst>
          </a:prstGeom>
          <a:solidFill>
            <a:srgbClr val="F3F4F6"/>
          </a:solidFill>
          <a:ln w="12700">
            <a:solidFill>
              <a:srgbClr val="F3F4F6"/>
            </a:solidFill>
            <a:prstDash val="solid"/>
          </a:ln>
        </p:spPr>
      </p:sp>
      <p:sp>
        <p:nvSpPr>
          <p:cNvPr id="17" name="badge"/>
          <p:cNvSpPr/>
          <p:nvPr/>
        </p:nvSpPr>
        <p:spPr>
          <a:xfrm>
            <a:off x="5001768" y="2011680"/>
            <a:ext cx="457200" cy="457200"/>
          </a:xfrm>
          <a:prstGeom prst="ellipse">
            <a:avLst/>
          </a:prstGeom>
          <a:solidFill>
            <a:srgbClr val="2A78D6"/>
          </a:solidFill>
          <a:ln w="12700">
            <a:solidFill>
              <a:srgbClr val="2A78D6"/>
            </a:solidFill>
            <a:prstDash val="solid"/>
          </a:ln>
        </p:spPr>
      </p:sp>
      <p:sp>
        <p:nvSpPr>
          <p:cNvPr id="18" name="badge text"/>
          <p:cNvSpPr txBox="1"/>
          <p:nvPr/>
        </p:nvSpPr>
        <p:spPr>
          <a:xfrm>
            <a:off x="500176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6"/>
          <p:cNvSpPr txBox="1"/>
          <p:nvPr/>
        </p:nvSpPr>
        <p:spPr>
          <a:xfrm>
            <a:off x="4480560" y="2606040"/>
            <a:ext cx="1508760" cy="457200"/>
          </a:xfrm>
          <a:prstGeom prst="rect">
            <a:avLst/>
          </a:prstGeom>
          <a:noFill/>
          <a:ln/>
        </p:spPr>
        <p:txBody>
          <a:bodyPr wrap="square" lIns="0" tIns="0" rIns="0" bIns="0" rtlCol="0" anchor="ctr"/>
          <a:lstStyle/>
          <a:p>
            <a:pPr algn="ctr" indent="0" marL="0">
              <a:buNone/>
            </a:pPr>
            <a:r>
              <a:rPr lang="en-US" sz="1600" b="1" dirty="0">
                <a:solidFill>
                  <a:srgbClr val="14213D"/>
                </a:solidFill>
              </a:rPr>
              <a:t>Explore</a:t>
            </a:r>
            <a:endParaRPr lang="en-US" sz="1600" dirty="0"/>
          </a:p>
        </p:txBody>
      </p:sp>
      <p:sp>
        <p:nvSpPr>
          <p:cNvPr id="20" name="Text 17"/>
          <p:cNvSpPr txBox="1"/>
          <p:nvPr/>
        </p:nvSpPr>
        <p:spPr>
          <a:xfrm>
            <a:off x="4498848" y="3063240"/>
            <a:ext cx="1472184" cy="1005840"/>
          </a:xfrm>
          <a:prstGeom prst="rect">
            <a:avLst/>
          </a:prstGeom>
          <a:noFill/>
          <a:ln/>
        </p:spPr>
        <p:txBody>
          <a:bodyPr wrap="square" lIns="0" tIns="0" rIns="0" bIns="0" rtlCol="0" anchor="t"/>
          <a:lstStyle/>
          <a:p>
            <a:pPr algn="ctr" indent="0" marL="0">
              <a:buNone/>
            </a:pPr>
            <a:r>
              <a:rPr lang="en-US" sz="1300" dirty="0">
                <a:solidFill>
                  <a:srgbClr val="6B7280"/>
                </a:solidFill>
              </a:rPr>
              <a:t>EDA, PCA, stationarity</a:t>
            </a:r>
            <a:endParaRPr lang="en-US" sz="1300" dirty="0"/>
          </a:p>
        </p:txBody>
      </p:sp>
      <p:sp>
        <p:nvSpPr>
          <p:cNvPr id="21" name="Shape 18"/>
          <p:cNvSpPr/>
          <p:nvPr/>
        </p:nvSpPr>
        <p:spPr>
          <a:xfrm>
            <a:off x="6126480" y="2880360"/>
            <a:ext cx="137160" cy="274320"/>
          </a:xfrm>
          <a:prstGeom prst="rtTriangle">
            <a:avLst/>
          </a:prstGeom>
          <a:solidFill>
            <a:srgbClr val="CBD5E1"/>
          </a:solidFill>
          <a:ln w="12700">
            <a:solidFill>
              <a:srgbClr val="CBD5E1"/>
            </a:solidFill>
            <a:prstDash val="solid"/>
          </a:ln>
        </p:spPr>
      </p:sp>
      <p:sp>
        <p:nvSpPr>
          <p:cNvPr id="22" name="card"/>
          <p:cNvSpPr/>
          <p:nvPr/>
        </p:nvSpPr>
        <p:spPr>
          <a:xfrm>
            <a:off x="6309360" y="1828800"/>
            <a:ext cx="1691640" cy="2377440"/>
          </a:xfrm>
          <a:prstGeom prst="roundRect">
            <a:avLst>
              <a:gd name="adj" fmla="val 4324"/>
            </a:avLst>
          </a:prstGeom>
          <a:solidFill>
            <a:srgbClr val="F3F4F6"/>
          </a:solidFill>
          <a:ln w="12700">
            <a:solidFill>
              <a:srgbClr val="F3F4F6"/>
            </a:solidFill>
            <a:prstDash val="solid"/>
          </a:ln>
        </p:spPr>
      </p:sp>
      <p:sp>
        <p:nvSpPr>
          <p:cNvPr id="23" name="badge"/>
          <p:cNvSpPr/>
          <p:nvPr/>
        </p:nvSpPr>
        <p:spPr>
          <a:xfrm>
            <a:off x="6922008" y="2011680"/>
            <a:ext cx="457200" cy="457200"/>
          </a:xfrm>
          <a:prstGeom prst="ellipse">
            <a:avLst/>
          </a:prstGeom>
          <a:solidFill>
            <a:srgbClr val="2A78D6"/>
          </a:solidFill>
          <a:ln w="12700">
            <a:solidFill>
              <a:srgbClr val="2A78D6"/>
            </a:solidFill>
            <a:prstDash val="solid"/>
          </a:ln>
        </p:spPr>
      </p:sp>
      <p:sp>
        <p:nvSpPr>
          <p:cNvPr id="24" name="badge text"/>
          <p:cNvSpPr txBox="1"/>
          <p:nvPr/>
        </p:nvSpPr>
        <p:spPr>
          <a:xfrm>
            <a:off x="692200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Text 22"/>
          <p:cNvSpPr txBox="1"/>
          <p:nvPr/>
        </p:nvSpPr>
        <p:spPr>
          <a:xfrm>
            <a:off x="6400800" y="2606040"/>
            <a:ext cx="1508760" cy="457200"/>
          </a:xfrm>
          <a:prstGeom prst="rect">
            <a:avLst/>
          </a:prstGeom>
          <a:noFill/>
          <a:ln/>
        </p:spPr>
        <p:txBody>
          <a:bodyPr wrap="square" lIns="0" tIns="0" rIns="0" bIns="0" rtlCol="0" anchor="ctr"/>
          <a:lstStyle/>
          <a:p>
            <a:pPr algn="ctr" indent="0" marL="0">
              <a:buNone/>
            </a:pPr>
            <a:r>
              <a:rPr lang="en-US" sz="1600" b="1" dirty="0">
                <a:solidFill>
                  <a:srgbClr val="14213D"/>
                </a:solidFill>
              </a:rPr>
              <a:t>Features &amp; split</a:t>
            </a:r>
            <a:endParaRPr lang="en-US" sz="1600" dirty="0"/>
          </a:p>
        </p:txBody>
      </p:sp>
      <p:sp>
        <p:nvSpPr>
          <p:cNvPr id="26" name="Text 23"/>
          <p:cNvSpPr txBox="1"/>
          <p:nvPr/>
        </p:nvSpPr>
        <p:spPr>
          <a:xfrm>
            <a:off x="6419088" y="3063240"/>
            <a:ext cx="1472184" cy="1005840"/>
          </a:xfrm>
          <a:prstGeom prst="rect">
            <a:avLst/>
          </a:prstGeom>
          <a:noFill/>
          <a:ln/>
        </p:spPr>
        <p:txBody>
          <a:bodyPr wrap="square" lIns="0" tIns="0" rIns="0" bIns="0" rtlCol="0" anchor="t"/>
          <a:lstStyle/>
          <a:p>
            <a:pPr algn="ctr" indent="0" marL="0">
              <a:buNone/>
            </a:pPr>
            <a:r>
              <a:rPr lang="en-US" sz="1300" dirty="0">
                <a:solidFill>
                  <a:srgbClr val="6B7280"/>
                </a:solidFill>
              </a:rPr>
              <a:t>23 features, split by date</a:t>
            </a:r>
            <a:endParaRPr lang="en-US" sz="1300" dirty="0"/>
          </a:p>
        </p:txBody>
      </p:sp>
      <p:sp>
        <p:nvSpPr>
          <p:cNvPr id="27" name="Shape 24"/>
          <p:cNvSpPr/>
          <p:nvPr/>
        </p:nvSpPr>
        <p:spPr>
          <a:xfrm>
            <a:off x="8046720" y="2880360"/>
            <a:ext cx="137160" cy="274320"/>
          </a:xfrm>
          <a:prstGeom prst="rtTriangle">
            <a:avLst/>
          </a:prstGeom>
          <a:solidFill>
            <a:srgbClr val="CBD5E1"/>
          </a:solidFill>
          <a:ln w="12700">
            <a:solidFill>
              <a:srgbClr val="CBD5E1"/>
            </a:solidFill>
            <a:prstDash val="solid"/>
          </a:ln>
        </p:spPr>
      </p:sp>
      <p:sp>
        <p:nvSpPr>
          <p:cNvPr id="28" name="card"/>
          <p:cNvSpPr/>
          <p:nvPr/>
        </p:nvSpPr>
        <p:spPr>
          <a:xfrm>
            <a:off x="8229600" y="1828800"/>
            <a:ext cx="1691640" cy="2377440"/>
          </a:xfrm>
          <a:prstGeom prst="roundRect">
            <a:avLst>
              <a:gd name="adj" fmla="val 4324"/>
            </a:avLst>
          </a:prstGeom>
          <a:solidFill>
            <a:srgbClr val="F3F4F6"/>
          </a:solidFill>
          <a:ln w="12700">
            <a:solidFill>
              <a:srgbClr val="F3F4F6"/>
            </a:solidFill>
            <a:prstDash val="solid"/>
          </a:ln>
        </p:spPr>
      </p:sp>
      <p:sp>
        <p:nvSpPr>
          <p:cNvPr id="29" name="badge"/>
          <p:cNvSpPr/>
          <p:nvPr/>
        </p:nvSpPr>
        <p:spPr>
          <a:xfrm>
            <a:off x="8842248" y="2011680"/>
            <a:ext cx="457200" cy="457200"/>
          </a:xfrm>
          <a:prstGeom prst="ellipse">
            <a:avLst/>
          </a:prstGeom>
          <a:solidFill>
            <a:srgbClr val="EB6834"/>
          </a:solidFill>
          <a:ln w="12700">
            <a:solidFill>
              <a:srgbClr val="EB6834"/>
            </a:solidFill>
            <a:prstDash val="solid"/>
          </a:ln>
        </p:spPr>
      </p:sp>
      <p:sp>
        <p:nvSpPr>
          <p:cNvPr id="30" name="badge text"/>
          <p:cNvSpPr txBox="1"/>
          <p:nvPr/>
        </p:nvSpPr>
        <p:spPr>
          <a:xfrm>
            <a:off x="884224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1" name="Text 28"/>
          <p:cNvSpPr txBox="1"/>
          <p:nvPr/>
        </p:nvSpPr>
        <p:spPr>
          <a:xfrm>
            <a:off x="8321040" y="2606040"/>
            <a:ext cx="1508760" cy="457200"/>
          </a:xfrm>
          <a:prstGeom prst="rect">
            <a:avLst/>
          </a:prstGeom>
          <a:noFill/>
          <a:ln/>
        </p:spPr>
        <p:txBody>
          <a:bodyPr wrap="square" lIns="0" tIns="0" rIns="0" bIns="0" rtlCol="0" anchor="ctr"/>
          <a:lstStyle/>
          <a:p>
            <a:pPr algn="ctr" indent="0" marL="0">
              <a:buNone/>
            </a:pPr>
            <a:r>
              <a:rPr lang="en-US" sz="1600" b="1" dirty="0">
                <a:solidFill>
                  <a:srgbClr val="14213D"/>
                </a:solidFill>
              </a:rPr>
              <a:t>Train</a:t>
            </a:r>
            <a:endParaRPr lang="en-US" sz="1600" dirty="0"/>
          </a:p>
        </p:txBody>
      </p:sp>
      <p:sp>
        <p:nvSpPr>
          <p:cNvPr id="32" name="Text 29"/>
          <p:cNvSpPr txBox="1"/>
          <p:nvPr/>
        </p:nvSpPr>
        <p:spPr>
          <a:xfrm>
            <a:off x="8339328" y="3063240"/>
            <a:ext cx="1472184" cy="1005840"/>
          </a:xfrm>
          <a:prstGeom prst="rect">
            <a:avLst/>
          </a:prstGeom>
          <a:noFill/>
          <a:ln/>
        </p:spPr>
        <p:txBody>
          <a:bodyPr wrap="square" lIns="0" tIns="0" rIns="0" bIns="0" rtlCol="0" anchor="t"/>
          <a:lstStyle/>
          <a:p>
            <a:pPr algn="ctr" indent="0" marL="0">
              <a:buNone/>
            </a:pPr>
            <a:r>
              <a:rPr lang="en-US" sz="1300" dirty="0">
                <a:solidFill>
                  <a:srgbClr val="6B7280"/>
                </a:solidFill>
              </a:rPr>
              <a:t>7 models × 3 experiments</a:t>
            </a:r>
            <a:endParaRPr lang="en-US" sz="1300" dirty="0"/>
          </a:p>
        </p:txBody>
      </p:sp>
      <p:sp>
        <p:nvSpPr>
          <p:cNvPr id="33" name="Shape 30"/>
          <p:cNvSpPr/>
          <p:nvPr/>
        </p:nvSpPr>
        <p:spPr>
          <a:xfrm>
            <a:off x="9966960" y="2880360"/>
            <a:ext cx="137160" cy="274320"/>
          </a:xfrm>
          <a:prstGeom prst="rtTriangle">
            <a:avLst/>
          </a:prstGeom>
          <a:solidFill>
            <a:srgbClr val="CBD5E1"/>
          </a:solidFill>
          <a:ln w="12700">
            <a:solidFill>
              <a:srgbClr val="CBD5E1"/>
            </a:solidFill>
            <a:prstDash val="solid"/>
          </a:ln>
        </p:spPr>
      </p:sp>
      <p:sp>
        <p:nvSpPr>
          <p:cNvPr id="34" name="card"/>
          <p:cNvSpPr/>
          <p:nvPr/>
        </p:nvSpPr>
        <p:spPr>
          <a:xfrm>
            <a:off x="10149840" y="1828800"/>
            <a:ext cx="1691640" cy="2377440"/>
          </a:xfrm>
          <a:prstGeom prst="roundRect">
            <a:avLst>
              <a:gd name="adj" fmla="val 4324"/>
            </a:avLst>
          </a:prstGeom>
          <a:solidFill>
            <a:srgbClr val="F3F4F6"/>
          </a:solidFill>
          <a:ln w="12700">
            <a:solidFill>
              <a:srgbClr val="F3F4F6"/>
            </a:solidFill>
            <a:prstDash val="solid"/>
          </a:ln>
        </p:spPr>
      </p:sp>
      <p:sp>
        <p:nvSpPr>
          <p:cNvPr id="35" name="badge"/>
          <p:cNvSpPr/>
          <p:nvPr/>
        </p:nvSpPr>
        <p:spPr>
          <a:xfrm>
            <a:off x="10762488" y="2011680"/>
            <a:ext cx="457200" cy="457200"/>
          </a:xfrm>
          <a:prstGeom prst="ellipse">
            <a:avLst/>
          </a:prstGeom>
          <a:solidFill>
            <a:srgbClr val="2A78D6"/>
          </a:solidFill>
          <a:ln w="12700">
            <a:solidFill>
              <a:srgbClr val="2A78D6"/>
            </a:solidFill>
            <a:prstDash val="solid"/>
          </a:ln>
        </p:spPr>
      </p:sp>
      <p:sp>
        <p:nvSpPr>
          <p:cNvPr id="36" name="badge text"/>
          <p:cNvSpPr txBox="1"/>
          <p:nvPr/>
        </p:nvSpPr>
        <p:spPr>
          <a:xfrm>
            <a:off x="1076248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7" name="Text 34"/>
          <p:cNvSpPr txBox="1"/>
          <p:nvPr/>
        </p:nvSpPr>
        <p:spPr>
          <a:xfrm>
            <a:off x="10241280" y="2606040"/>
            <a:ext cx="1508760" cy="457200"/>
          </a:xfrm>
          <a:prstGeom prst="rect">
            <a:avLst/>
          </a:prstGeom>
          <a:noFill/>
          <a:ln/>
        </p:spPr>
        <p:txBody>
          <a:bodyPr wrap="square" lIns="0" tIns="0" rIns="0" bIns="0" rtlCol="0" anchor="ctr"/>
          <a:lstStyle/>
          <a:p>
            <a:pPr algn="ctr" indent="0" marL="0">
              <a:buNone/>
            </a:pPr>
            <a:r>
              <a:rPr lang="en-US" sz="1600" b="1" dirty="0">
                <a:solidFill>
                  <a:srgbClr val="14213D"/>
                </a:solidFill>
              </a:rPr>
              <a:t>Evaluate</a:t>
            </a:r>
            <a:endParaRPr lang="en-US" sz="1600" dirty="0"/>
          </a:p>
        </p:txBody>
      </p:sp>
      <p:sp>
        <p:nvSpPr>
          <p:cNvPr id="38" name="Text 35"/>
          <p:cNvSpPr txBox="1"/>
          <p:nvPr/>
        </p:nvSpPr>
        <p:spPr>
          <a:xfrm>
            <a:off x="10259568" y="3063240"/>
            <a:ext cx="1472184" cy="1005840"/>
          </a:xfrm>
          <a:prstGeom prst="rect">
            <a:avLst/>
          </a:prstGeom>
          <a:noFill/>
          <a:ln/>
        </p:spPr>
        <p:txBody>
          <a:bodyPr wrap="square" lIns="0" tIns="0" rIns="0" bIns="0" rtlCol="0" anchor="t"/>
          <a:lstStyle/>
          <a:p>
            <a:pPr algn="ctr" indent="0" marL="0">
              <a:buNone/>
            </a:pPr>
            <a:r>
              <a:rPr lang="en-US" sz="1300" dirty="0">
                <a:solidFill>
                  <a:srgbClr val="6B7280"/>
                </a:solidFill>
              </a:rPr>
              <a:t>same metrics from saved predictions</a:t>
            </a:r>
            <a:endParaRPr lang="en-US" sz="1300" dirty="0"/>
          </a:p>
        </p:txBody>
      </p:sp>
      <p:sp>
        <p:nvSpPr>
          <p:cNvPr id="39" name="Text 36"/>
          <p:cNvSpPr txBox="1"/>
          <p:nvPr/>
        </p:nvSpPr>
        <p:spPr>
          <a:xfrm>
            <a:off x="548640" y="4663440"/>
            <a:ext cx="11064240" cy="457200"/>
          </a:xfrm>
          <a:prstGeom prst="rect">
            <a:avLst/>
          </a:prstGeom>
          <a:noFill/>
          <a:ln/>
        </p:spPr>
        <p:txBody>
          <a:bodyPr wrap="square" rtlCol="0" anchor="ctr"/>
          <a:lstStyle/>
          <a:p>
            <a:pPr algn="ctr" indent="0" marL="0">
              <a:buNone/>
            </a:pPr>
            <a:r>
              <a:rPr lang="en-US" sz="1800" b="1" dirty="0">
                <a:solidFill>
                  <a:srgbClr val="EB6834"/>
                </a:solidFill>
              </a:rPr>
              <a:t>Train 2010-2021  ·  Validation 2022  ·  Test Jan 2023 - Sep 2026 (never shuffled)</a:t>
            </a:r>
            <a:endParaRPr lang="en-US" sz="1800" dirty="0"/>
          </a:p>
        </p:txBody>
      </p:sp>
      <p:sp>
        <p:nvSpPr>
          <p:cNvPr id="40" name="Text 37"/>
          <p:cNvSpPr txBox="1"/>
          <p:nvPr/>
        </p:nvSpPr>
        <p:spPr>
          <a:xfrm>
            <a:off x="548640" y="5166360"/>
            <a:ext cx="11064240" cy="457200"/>
          </a:xfrm>
          <a:prstGeom prst="rect">
            <a:avLst/>
          </a:prstGeom>
          <a:noFill/>
          <a:ln/>
        </p:spPr>
        <p:txBody>
          <a:bodyPr wrap="square" rtlCol="0" anchor="ctr"/>
          <a:lstStyle/>
          <a:p>
            <a:pPr algn="ctr" indent="0" marL="0">
              <a:buNone/>
            </a:pPr>
            <a:r>
              <a:rPr lang="en-US" sz="1500" dirty="0">
                <a:solidFill>
                  <a:srgbClr val="6B7280"/>
                </a:solidFill>
              </a:rPr>
              <a:t>Neural networks are trained with 3 random seeds and averaged. Hyperparameters are chosen on 2022 only.</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16 years of very different rate regimes</a:t>
            </a:r>
            <a:endParaRPr lang="en-US" sz="3000" dirty="0"/>
          </a:p>
        </p:txBody>
      </p:sp>
      <p:pic>
        <p:nvPicPr>
          <p:cNvPr id="4" name="02_yield_history" descr="Yield history">    </p:cNvPr>
          <p:cNvPicPr>
            <a:picLocks noChangeAspect="1"/>
          </p:cNvPicPr>
          <p:nvPr/>
        </p:nvPicPr>
        <p:blipFill>
          <a:blip r:embed="rId1"/>
          <a:stretch>
            <a:fillRect/>
          </a:stretch>
        </p:blipFill>
        <p:spPr>
          <a:xfrm>
            <a:off x="548640" y="1280160"/>
            <a:ext cx="7680960" cy="4124647"/>
          </a:xfrm>
          <a:prstGeom prst="rect">
            <a:avLst/>
          </a:prstGeom>
        </p:spPr>
      </p:pic>
      <p:sp>
        <p:nvSpPr>
          <p:cNvPr id="5" name="stat value"/>
          <p:cNvSpPr txBox="1"/>
          <p:nvPr/>
        </p:nvSpPr>
        <p:spPr>
          <a:xfrm>
            <a:off x="8595360" y="1463040"/>
            <a:ext cx="3108960" cy="82296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6.02%</a:t>
            </a:r>
            <a:endParaRPr lang="en-US" sz="4000" dirty="0"/>
          </a:p>
        </p:txBody>
      </p:sp>
      <p:sp>
        <p:nvSpPr>
          <p:cNvPr id="6" name="stat label"/>
          <p:cNvSpPr txBox="1"/>
          <p:nvPr/>
        </p:nvSpPr>
        <p:spPr>
          <a:xfrm>
            <a:off x="8595360" y="2286000"/>
            <a:ext cx="3108960" cy="685800"/>
          </a:xfrm>
          <a:prstGeom prst="rect">
            <a:avLst/>
          </a:prstGeom>
          <a:noFill/>
          <a:ln/>
        </p:spPr>
        <p:txBody>
          <a:bodyPr wrap="square" lIns="0" tIns="0" rIns="0" bIns="0" rtlCol="0" anchor="t"/>
          <a:lstStyle/>
          <a:p>
            <a:pPr indent="0" marL="0">
              <a:buNone/>
            </a:pPr>
            <a:r>
              <a:rPr lang="en-US" sz="1400" dirty="0">
                <a:solidFill>
                  <a:srgbClr val="6B7280"/>
                </a:solidFill>
              </a:rPr>
              <a:t>1M yield peak, May 2023 debt-ceiling standoff</a:t>
            </a:r>
            <a:endParaRPr lang="en-US" sz="1400" dirty="0"/>
          </a:p>
        </p:txBody>
      </p:sp>
      <p:sp>
        <p:nvSpPr>
          <p:cNvPr id="7" name="stat value"/>
          <p:cNvSpPr txBox="1"/>
          <p:nvPr/>
        </p:nvSpPr>
        <p:spPr>
          <a:xfrm>
            <a:off x="8595360" y="3108960"/>
            <a:ext cx="3108960" cy="82296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5.64%</a:t>
            </a:r>
            <a:endParaRPr lang="en-US" sz="4000" dirty="0"/>
          </a:p>
        </p:txBody>
      </p:sp>
      <p:sp>
        <p:nvSpPr>
          <p:cNvPr id="8" name="stat label"/>
          <p:cNvSpPr txBox="1"/>
          <p:nvPr/>
        </p:nvSpPr>
        <p:spPr>
          <a:xfrm>
            <a:off x="8595360" y="3931920"/>
            <a:ext cx="3108960" cy="685800"/>
          </a:xfrm>
          <a:prstGeom prst="rect">
            <a:avLst/>
          </a:prstGeom>
          <a:noFill/>
          <a:ln/>
        </p:spPr>
        <p:txBody>
          <a:bodyPr wrap="square" lIns="0" tIns="0" rIns="0" bIns="0" rtlCol="0" anchor="t"/>
          <a:lstStyle/>
          <a:p>
            <a:pPr indent="0" marL="0">
              <a:buNone/>
            </a:pPr>
            <a:r>
              <a:rPr lang="en-US" sz="1400" dirty="0">
                <a:solidFill>
                  <a:srgbClr val="6B7280"/>
                </a:solidFill>
              </a:rPr>
              <a:t>30Y yield in Sep 2026, highest in the data</a:t>
            </a:r>
            <a:endParaRPr lang="en-US" sz="1400" dirty="0"/>
          </a:p>
        </p:txBody>
      </p:sp>
      <p:sp>
        <p:nvSpPr>
          <p:cNvPr id="9" name="stat value"/>
          <p:cNvSpPr txBox="1"/>
          <p:nvPr/>
        </p:nvSpPr>
        <p:spPr>
          <a:xfrm>
            <a:off x="8595360" y="4754880"/>
            <a:ext cx="3108960" cy="822960"/>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0.52%</a:t>
            </a:r>
            <a:endParaRPr lang="en-US" sz="4000" dirty="0"/>
          </a:p>
        </p:txBody>
      </p:sp>
      <p:sp>
        <p:nvSpPr>
          <p:cNvPr id="10" name="stat label"/>
          <p:cNvSpPr txBox="1"/>
          <p:nvPr/>
        </p:nvSpPr>
        <p:spPr>
          <a:xfrm>
            <a:off x="8595360" y="5577840"/>
            <a:ext cx="3108960" cy="685800"/>
          </a:xfrm>
          <a:prstGeom prst="rect">
            <a:avLst/>
          </a:prstGeom>
          <a:noFill/>
          <a:ln/>
        </p:spPr>
        <p:txBody>
          <a:bodyPr wrap="square" lIns="0" tIns="0" rIns="0" bIns="0" rtlCol="0" anchor="t"/>
          <a:lstStyle/>
          <a:p>
            <a:pPr indent="0" marL="0">
              <a:buNone/>
            </a:pPr>
            <a:r>
              <a:rPr lang="en-US" sz="1400" dirty="0">
                <a:solidFill>
                  <a:srgbClr val="6B7280"/>
                </a:solidFill>
              </a:rPr>
              <a:t>10Y low in Aug 2020 (COVID)</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Inversion and the three factors of the curve</a:t>
            </a:r>
            <a:endParaRPr lang="en-US" sz="3000" dirty="0"/>
          </a:p>
        </p:txBody>
      </p:sp>
      <p:pic>
        <p:nvPicPr>
          <p:cNvPr id="4" name="02_curve_slope" descr="Curve slope">    </p:cNvPr>
          <p:cNvPicPr>
            <a:picLocks noChangeAspect="1"/>
          </p:cNvPicPr>
          <p:nvPr/>
        </p:nvPicPr>
        <p:blipFill>
          <a:blip r:embed="rId1"/>
          <a:stretch>
            <a:fillRect/>
          </a:stretch>
        </p:blipFill>
        <p:spPr>
          <a:xfrm>
            <a:off x="457200" y="1325880"/>
            <a:ext cx="5760720" cy="2324282"/>
          </a:xfrm>
          <a:prstGeom prst="rect">
            <a:avLst/>
          </a:prstGeom>
        </p:spPr>
      </p:pic>
      <p:pic>
        <p:nvPicPr>
          <p:cNvPr id="5" name="02_pca_loadings" descr="PCA loadings">    </p:cNvPr>
          <p:cNvPicPr>
            <a:picLocks noChangeAspect="1"/>
          </p:cNvPicPr>
          <p:nvPr/>
        </p:nvPicPr>
        <p:blipFill>
          <a:blip r:embed="rId2"/>
          <a:stretch>
            <a:fillRect/>
          </a:stretch>
        </p:blipFill>
        <p:spPr>
          <a:xfrm>
            <a:off x="6355080" y="1325880"/>
            <a:ext cx="5394960" cy="2708998"/>
          </a:xfrm>
          <a:prstGeom prst="rect">
            <a:avLst/>
          </a:prstGeom>
        </p:spPr>
      </p:pic>
      <p:sp>
        <p:nvSpPr>
          <p:cNvPr id="6" name="stat value"/>
          <p:cNvSpPr txBox="1"/>
          <p:nvPr/>
        </p:nvSpPr>
        <p:spPr>
          <a:xfrm>
            <a:off x="731520" y="4434840"/>
            <a:ext cx="5029200" cy="82296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537 days</a:t>
            </a:r>
            <a:endParaRPr lang="en-US" sz="4000" dirty="0"/>
          </a:p>
        </p:txBody>
      </p:sp>
      <p:sp>
        <p:nvSpPr>
          <p:cNvPr id="7" name="stat label"/>
          <p:cNvSpPr txBox="1"/>
          <p:nvPr/>
        </p:nvSpPr>
        <p:spPr>
          <a:xfrm>
            <a:off x="731520" y="5257800"/>
            <a:ext cx="5029200" cy="685800"/>
          </a:xfrm>
          <a:prstGeom prst="rect">
            <a:avLst/>
          </a:prstGeom>
          <a:noFill/>
          <a:ln/>
        </p:spPr>
        <p:txBody>
          <a:bodyPr wrap="square" lIns="0" tIns="0" rIns="0" bIns="0" rtlCol="0" anchor="t"/>
          <a:lstStyle/>
          <a:p>
            <a:pPr indent="0" marL="0">
              <a:buNone/>
            </a:pPr>
            <a:r>
              <a:rPr lang="en-US" sz="1400" dirty="0">
                <a:solidFill>
                  <a:srgbClr val="6B7280"/>
                </a:solidFill>
              </a:rPr>
              <a:t>10Y-2Y inverted, Jul 2022 to Aug 2024</a:t>
            </a:r>
            <a:endParaRPr lang="en-US" sz="1400" dirty="0"/>
          </a:p>
        </p:txBody>
      </p:sp>
      <p:sp>
        <p:nvSpPr>
          <p:cNvPr id="8" name="stat value"/>
          <p:cNvSpPr txBox="1"/>
          <p:nvPr/>
        </p:nvSpPr>
        <p:spPr>
          <a:xfrm>
            <a:off x="6583680" y="4434840"/>
            <a:ext cx="5029200" cy="82296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93%</a:t>
            </a:r>
            <a:endParaRPr lang="en-US" sz="4000" dirty="0"/>
          </a:p>
        </p:txBody>
      </p:sp>
      <p:sp>
        <p:nvSpPr>
          <p:cNvPr id="9" name="stat label"/>
          <p:cNvSpPr txBox="1"/>
          <p:nvPr/>
        </p:nvSpPr>
        <p:spPr>
          <a:xfrm>
            <a:off x="6583680" y="5257800"/>
            <a:ext cx="5029200" cy="685800"/>
          </a:xfrm>
          <a:prstGeom prst="rect">
            <a:avLst/>
          </a:prstGeom>
          <a:noFill/>
          <a:ln/>
        </p:spPr>
        <p:txBody>
          <a:bodyPr wrap="square" lIns="0" tIns="0" rIns="0" bIns="0" rtlCol="0" anchor="t"/>
          <a:lstStyle/>
          <a:p>
            <a:pPr indent="0" marL="0">
              <a:buNone/>
            </a:pPr>
            <a:r>
              <a:rPr lang="en-US" sz="1400" dirty="0">
                <a:solidFill>
                  <a:srgbClr val="6B7280"/>
                </a:solidFill>
              </a:rPr>
              <a:t>of daily movement explained by level, slope and curvature</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Key insight: predict the change, not the level</a:t>
            </a:r>
            <a:endParaRPr lang="en-US" sz="3000" dirty="0"/>
          </a:p>
        </p:txBody>
      </p:sp>
      <p:pic>
        <p:nvPicPr>
          <p:cNvPr id="4" name="02_split" descr="Targets and split">    </p:cNvPr>
          <p:cNvPicPr>
            <a:picLocks noChangeAspect="1"/>
          </p:cNvPicPr>
          <p:nvPr/>
        </p:nvPicPr>
        <p:blipFill>
          <a:blip r:embed="rId1"/>
          <a:stretch>
            <a:fillRect/>
          </a:stretch>
        </p:blipFill>
        <p:spPr>
          <a:xfrm>
            <a:off x="457200" y="1325880"/>
            <a:ext cx="7498080" cy="3065149"/>
          </a:xfrm>
          <a:prstGeom prst="rect">
            <a:avLst/>
          </a:prstGeom>
        </p:spPr>
      </p:pic>
      <p:sp>
        <p:nvSpPr>
          <p:cNvPr id="5" name="stat value"/>
          <p:cNvSpPr txBox="1"/>
          <p:nvPr/>
        </p:nvSpPr>
        <p:spPr>
          <a:xfrm>
            <a:off x="8321040" y="1371600"/>
            <a:ext cx="3383280" cy="822960"/>
          </a:xfrm>
          <a:prstGeom prst="rect">
            <a:avLst/>
          </a:prstGeom>
          <a:noFill/>
          <a:ln/>
        </p:spPr>
        <p:txBody>
          <a:bodyPr wrap="square" lIns="0" tIns="0" rIns="0" bIns="0" rtlCol="0" anchor="ctr"/>
          <a:lstStyle/>
          <a:p>
            <a:pPr indent="0" marL="0">
              <a:buNone/>
            </a:pPr>
            <a:r>
              <a:rPr lang="en-US" sz="4000" b="1" dirty="0">
                <a:solidFill>
                  <a:srgbClr val="E34948"/>
                </a:solidFill>
                <a:latin typeface="Cambria" pitchFamily="34" charset="0"/>
                <a:ea typeface="Cambria" pitchFamily="34" charset="-122"/>
                <a:cs typeface="Cambria" pitchFamily="34" charset="-120"/>
              </a:rPr>
              <a:t>100%</a:t>
            </a:r>
            <a:endParaRPr lang="en-US" sz="4000" dirty="0"/>
          </a:p>
        </p:txBody>
      </p:sp>
      <p:sp>
        <p:nvSpPr>
          <p:cNvPr id="6" name="stat label"/>
          <p:cNvSpPr txBox="1"/>
          <p:nvPr/>
        </p:nvSpPr>
        <p:spPr>
          <a:xfrm>
            <a:off x="8321040" y="2194560"/>
            <a:ext cx="3383280" cy="685800"/>
          </a:xfrm>
          <a:prstGeom prst="rect">
            <a:avLst/>
          </a:prstGeom>
          <a:noFill/>
          <a:ln/>
        </p:spPr>
        <p:txBody>
          <a:bodyPr wrap="square" lIns="0" tIns="0" rIns="0" bIns="0" rtlCol="0" anchor="t"/>
          <a:lstStyle/>
          <a:p>
            <a:pPr indent="0" marL="0">
              <a:buNone/>
            </a:pPr>
            <a:r>
              <a:rPr lang="en-US" sz="1400" dirty="0">
                <a:solidFill>
                  <a:srgbClr val="6B7280"/>
                </a:solidFill>
              </a:rPr>
              <a:t>of test days with the 1M yield above its training maximum</a:t>
            </a:r>
            <a:endParaRPr lang="en-US" sz="1400" dirty="0"/>
          </a:p>
        </p:txBody>
      </p:sp>
      <p:sp>
        <p:nvSpPr>
          <p:cNvPr id="7" name="stat value"/>
          <p:cNvSpPr txBox="1"/>
          <p:nvPr/>
        </p:nvSpPr>
        <p:spPr>
          <a:xfrm>
            <a:off x="8321040" y="2971800"/>
            <a:ext cx="3383280" cy="822960"/>
          </a:xfrm>
          <a:prstGeom prst="rect">
            <a:avLst/>
          </a:prstGeom>
          <a:noFill/>
          <a:ln/>
        </p:spPr>
        <p:txBody>
          <a:bodyPr wrap="square" lIns="0" tIns="0" rIns="0" bIns="0" rtlCol="0" anchor="ctr"/>
          <a:lstStyle/>
          <a:p>
            <a:pPr indent="0" marL="0">
              <a:buNone/>
            </a:pPr>
            <a:r>
              <a:rPr lang="en-US" sz="4000" b="1" dirty="0">
                <a:solidFill>
                  <a:srgbClr val="E34948"/>
                </a:solidFill>
                <a:latin typeface="Cambria" pitchFamily="34" charset="0"/>
                <a:ea typeface="Cambria" pitchFamily="34" charset="-122"/>
                <a:cs typeface="Cambria" pitchFamily="34" charset="-120"/>
              </a:rPr>
              <a:t>26%</a:t>
            </a:r>
            <a:endParaRPr lang="en-US" sz="4000" dirty="0"/>
          </a:p>
        </p:txBody>
      </p:sp>
      <p:sp>
        <p:nvSpPr>
          <p:cNvPr id="8" name="stat label"/>
          <p:cNvSpPr txBox="1"/>
          <p:nvPr/>
        </p:nvSpPr>
        <p:spPr>
          <a:xfrm>
            <a:off x="8321040" y="3794760"/>
            <a:ext cx="3383280" cy="685800"/>
          </a:xfrm>
          <a:prstGeom prst="rect">
            <a:avLst/>
          </a:prstGeom>
          <a:noFill/>
          <a:ln/>
        </p:spPr>
        <p:txBody>
          <a:bodyPr wrap="square" lIns="0" tIns="0" rIns="0" bIns="0" rtlCol="0" anchor="t"/>
          <a:lstStyle/>
          <a:p>
            <a:pPr indent="0" marL="0">
              <a:buNone/>
            </a:pPr>
            <a:r>
              <a:rPr lang="en-US" sz="1400" dirty="0">
                <a:solidFill>
                  <a:srgbClr val="6B7280"/>
                </a:solidFill>
              </a:rPr>
              <a:t>for the 30Y yield</a:t>
            </a:r>
            <a:endParaRPr lang="en-US" sz="1400" dirty="0"/>
          </a:p>
        </p:txBody>
      </p:sp>
      <p:sp>
        <p:nvSpPr>
          <p:cNvPr id="9" name="bullets"/>
          <p:cNvSpPr txBox="1"/>
          <p:nvPr/>
        </p:nvSpPr>
        <p:spPr>
          <a:xfrm>
            <a:off x="548640" y="4663440"/>
            <a:ext cx="11064240" cy="1645920"/>
          </a:xfrm>
          <a:prstGeom prst="rect">
            <a:avLst/>
          </a:prstGeom>
          <a:noFill/>
          <a:ln/>
        </p:spPr>
        <p:txBody>
          <a:bodyPr wrap="square" rtlCol="0" anchor="t"/>
          <a:lstStyle/>
          <a:p>
            <a:pPr marL="342900" indent="-342900">
              <a:spcAft>
                <a:spcPts val="800"/>
              </a:spcAft>
              <a:buSzPct val="100000"/>
              <a:buChar char="•"/>
            </a:pPr>
            <a:r>
              <a:rPr lang="en-US" sz="1700" dirty="0">
                <a:solidFill>
                  <a:srgbClr val="1F2937"/>
                </a:solidFill>
              </a:rPr>
              <a:t>Levels are non-stationary (ADF p ≈ 0.8-0.9); weekly changes are stationary (p ≈ 0)</a:t>
            </a:r>
            <a:endParaRPr lang="en-US" sz="1700" dirty="0"/>
          </a:p>
          <a:p>
            <a:pPr marL="342900" indent="-342900">
              <a:spcAft>
                <a:spcPts val="800"/>
              </a:spcAft>
              <a:buSzPct val="100000"/>
              <a:buChar char="•"/>
            </a:pPr>
            <a:r>
              <a:rPr lang="en-US" sz="1700" dirty="0">
                <a:solidFill>
                  <a:srgbClr val="1F2937"/>
                </a:solidFill>
              </a:rPr>
              <a:t>Copying today's yield already gives R² ≈ 0.84-0.96, so R² on levels is misleading</a:t>
            </a:r>
            <a:endParaRPr lang="en-US" sz="1700" dirty="0"/>
          </a:p>
          <a:p>
            <a:pPr marL="342900" indent="-342900">
              <a:spcAft>
                <a:spcPts val="800"/>
              </a:spcAft>
              <a:buSzPct val="100000"/>
              <a:buChar char="•"/>
            </a:pPr>
            <a:r>
              <a:rPr lang="en-US" sz="1700" dirty="0">
                <a:solidFill>
                  <a:srgbClr val="1F2937"/>
                </a:solidFill>
              </a:rPr>
              <a:t>Benchmark every model against the naive "no change" forecast</a:t>
            </a:r>
            <a:endParaRPr lang="en-US" sz="17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Three experiments for every model</a:t>
            </a:r>
            <a:endParaRPr lang="en-US" sz="3000" dirty="0"/>
          </a:p>
        </p:txBody>
      </p:sp>
      <p:sp>
        <p:nvSpPr>
          <p:cNvPr id="4" name="card"/>
          <p:cNvSpPr/>
          <p:nvPr/>
        </p:nvSpPr>
        <p:spPr>
          <a:xfrm>
            <a:off x="548640" y="1463040"/>
            <a:ext cx="3520440" cy="3840480"/>
          </a:xfrm>
          <a:prstGeom prst="roundRect">
            <a:avLst>
              <a:gd name="adj" fmla="val 2078"/>
            </a:avLst>
          </a:prstGeom>
          <a:solidFill>
            <a:srgbClr val="F3F4F6"/>
          </a:solidFill>
          <a:ln w="12700">
            <a:solidFill>
              <a:srgbClr val="F3F4F6"/>
            </a:solidFill>
            <a:prstDash val="solid"/>
          </a:ln>
        </p:spPr>
      </p:sp>
      <p:sp>
        <p:nvSpPr>
          <p:cNvPr id="5" name="badge"/>
          <p:cNvSpPr/>
          <p:nvPr/>
        </p:nvSpPr>
        <p:spPr>
          <a:xfrm>
            <a:off x="777240" y="1691640"/>
            <a:ext cx="640080" cy="640080"/>
          </a:xfrm>
          <a:prstGeom prst="ellipse">
            <a:avLst/>
          </a:prstGeom>
          <a:solidFill>
            <a:srgbClr val="E34948"/>
          </a:solidFill>
          <a:ln w="12700">
            <a:solidFill>
              <a:srgbClr val="E34948"/>
            </a:solidFill>
            <a:prstDash val="solid"/>
          </a:ln>
        </p:spPr>
      </p:sp>
      <p:sp>
        <p:nvSpPr>
          <p:cNvPr id="6" name="badge text"/>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7" name="Text 4"/>
          <p:cNvSpPr txBox="1"/>
          <p:nvPr/>
        </p:nvSpPr>
        <p:spPr>
          <a:xfrm>
            <a:off x="1554480" y="1737360"/>
            <a:ext cx="2377440" cy="548640"/>
          </a:xfrm>
          <a:prstGeom prst="rect">
            <a:avLst/>
          </a:prstGeom>
          <a:noFill/>
          <a:ln/>
        </p:spPr>
        <p:txBody>
          <a:bodyPr wrap="square" lIns="0" tIns="0" rIns="0" bIns="0" rtlCol="0" anchor="ctr"/>
          <a:lstStyle/>
          <a:p>
            <a:pPr indent="0" marL="0">
              <a:buNone/>
            </a:pPr>
            <a:r>
              <a:rPr lang="en-US" sz="2000" b="1" dirty="0">
                <a:solidFill>
                  <a:srgbClr val="14213D"/>
                </a:solidFill>
              </a:rPr>
              <a:t>Level</a:t>
            </a:r>
            <a:endParaRPr lang="en-US" sz="2000" dirty="0"/>
          </a:p>
        </p:txBody>
      </p:sp>
      <p:sp>
        <p:nvSpPr>
          <p:cNvPr id="8" name="Text 5"/>
          <p:cNvSpPr txBox="1"/>
          <p:nvPr/>
        </p:nvSpPr>
        <p:spPr>
          <a:xfrm>
            <a:off x="777240" y="2560320"/>
            <a:ext cx="3108960" cy="2560320"/>
          </a:xfrm>
          <a:prstGeom prst="rect">
            <a:avLst/>
          </a:prstGeom>
          <a:noFill/>
          <a:ln/>
        </p:spPr>
        <p:txBody>
          <a:bodyPr wrap="square" lIns="0" tIns="0" rIns="0" bIns="0" rtlCol="0" anchor="t"/>
          <a:lstStyle/>
          <a:p>
            <a:pPr indent="0" marL="0">
              <a:buNone/>
            </a:pPr>
            <a:r>
              <a:rPr lang="en-US" sz="1500" b="1" dirty="0">
                <a:solidFill>
                  <a:srgbClr val="1F2937"/>
                </a:solidFill>
              </a:rPr>
              <a:t>Target</a:t>
            </a:r>
            <a:endParaRPr lang="en-US" sz="1500" dirty="0"/>
          </a:p>
          <a:p>
            <a:pPr indent="0" marL="0">
              <a:buNone/>
            </a:pPr>
            <a:r>
              <a:rPr lang="en-US" sz="1500" dirty="0">
                <a:solidFill>
                  <a:srgbClr val="1F2937"/>
                </a:solidFill>
              </a:rPr>
              <a:t>Predict the yield 5 days ahead</a:t>
            </a:r>
            <a:endParaRPr lang="en-US" sz="1500" dirty="0"/>
          </a:p>
          <a:p>
            <a:pPr indent="0" marL="0">
              <a:buNone/>
            </a:pPr>
            <a:r>
              <a:rPr lang="en-US" sz="1500" dirty="0">
                <a:solidFill>
                  <a:srgbClr val="1F2937"/>
                </a:solidFill>
              </a:rPr>
              <a:t> </a:t>
            </a:r>
            <a:endParaRPr lang="en-US" sz="1500" dirty="0"/>
          </a:p>
          <a:p>
            <a:pPr indent="0" marL="0">
              <a:buNone/>
            </a:pPr>
            <a:r>
              <a:rPr lang="en-US" sz="1500" b="1" dirty="0">
                <a:solidFill>
                  <a:srgbClr val="1F2937"/>
                </a:solidFill>
              </a:rPr>
              <a:t>Inputs</a:t>
            </a:r>
            <a:endParaRPr lang="en-US" sz="1500" dirty="0"/>
          </a:p>
          <a:p>
            <a:pPr indent="0" marL="0">
              <a:buNone/>
            </a:pPr>
            <a:r>
              <a:rPr lang="en-US" sz="1500" dirty="0">
                <a:solidFill>
                  <a:srgbClr val="1F2937"/>
                </a:solidFill>
              </a:rPr>
              <a:t>All 23 features (as in the case study)</a:t>
            </a:r>
            <a:endParaRPr lang="en-US" sz="1500" dirty="0"/>
          </a:p>
        </p:txBody>
      </p:sp>
      <p:sp>
        <p:nvSpPr>
          <p:cNvPr id="9" name="card"/>
          <p:cNvSpPr/>
          <p:nvPr/>
        </p:nvSpPr>
        <p:spPr>
          <a:xfrm>
            <a:off x="4297680" y="1463040"/>
            <a:ext cx="3520440" cy="3840480"/>
          </a:xfrm>
          <a:prstGeom prst="roundRect">
            <a:avLst>
              <a:gd name="adj" fmla="val 2078"/>
            </a:avLst>
          </a:prstGeom>
          <a:solidFill>
            <a:srgbClr val="F3F4F6"/>
          </a:solidFill>
          <a:ln w="12700">
            <a:solidFill>
              <a:srgbClr val="F3F4F6"/>
            </a:solidFill>
            <a:prstDash val="solid"/>
          </a:ln>
        </p:spPr>
      </p:sp>
      <p:sp>
        <p:nvSpPr>
          <p:cNvPr id="10" name="badge"/>
          <p:cNvSpPr/>
          <p:nvPr/>
        </p:nvSpPr>
        <p:spPr>
          <a:xfrm>
            <a:off x="4526280" y="1691640"/>
            <a:ext cx="640080" cy="640080"/>
          </a:xfrm>
          <a:prstGeom prst="ellipse">
            <a:avLst/>
          </a:prstGeom>
          <a:solidFill>
            <a:srgbClr val="EB6834"/>
          </a:solidFill>
          <a:ln w="12700">
            <a:solidFill>
              <a:srgbClr val="EB6834"/>
            </a:solidFill>
            <a:prstDash val="solid"/>
          </a:ln>
        </p:spPr>
      </p:sp>
      <p:sp>
        <p:nvSpPr>
          <p:cNvPr id="11" name="badge text"/>
          <p:cNvSpPr txBox="1"/>
          <p:nvPr/>
        </p:nvSpPr>
        <p:spPr>
          <a:xfrm>
            <a:off x="45262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2" name="Text 9"/>
          <p:cNvSpPr txBox="1"/>
          <p:nvPr/>
        </p:nvSpPr>
        <p:spPr>
          <a:xfrm>
            <a:off x="5303520" y="1737360"/>
            <a:ext cx="2377440" cy="548640"/>
          </a:xfrm>
          <a:prstGeom prst="rect">
            <a:avLst/>
          </a:prstGeom>
          <a:noFill/>
          <a:ln/>
        </p:spPr>
        <p:txBody>
          <a:bodyPr wrap="square" lIns="0" tIns="0" rIns="0" bIns="0" rtlCol="0" anchor="ctr"/>
          <a:lstStyle/>
          <a:p>
            <a:pPr indent="0" marL="0">
              <a:buNone/>
            </a:pPr>
            <a:r>
              <a:rPr lang="en-US" sz="2000" b="1" dirty="0">
                <a:solidFill>
                  <a:srgbClr val="14213D"/>
                </a:solidFill>
              </a:rPr>
              <a:t>Change</a:t>
            </a:r>
            <a:endParaRPr lang="en-US" sz="2000" dirty="0"/>
          </a:p>
        </p:txBody>
      </p:sp>
      <p:sp>
        <p:nvSpPr>
          <p:cNvPr id="13" name="Text 10"/>
          <p:cNvSpPr txBox="1"/>
          <p:nvPr/>
        </p:nvSpPr>
        <p:spPr>
          <a:xfrm>
            <a:off x="4526280" y="2560320"/>
            <a:ext cx="3108960" cy="2560320"/>
          </a:xfrm>
          <a:prstGeom prst="rect">
            <a:avLst/>
          </a:prstGeom>
          <a:noFill/>
          <a:ln/>
        </p:spPr>
        <p:txBody>
          <a:bodyPr wrap="square" lIns="0" tIns="0" rIns="0" bIns="0" rtlCol="0" anchor="t"/>
          <a:lstStyle/>
          <a:p>
            <a:pPr indent="0" marL="0">
              <a:buNone/>
            </a:pPr>
            <a:r>
              <a:rPr lang="en-US" sz="1500" b="1" dirty="0">
                <a:solidFill>
                  <a:srgbClr val="1F2937"/>
                </a:solidFill>
              </a:rPr>
              <a:t>Target</a:t>
            </a:r>
            <a:endParaRPr lang="en-US" sz="1500" dirty="0"/>
          </a:p>
          <a:p>
            <a:pPr indent="0" marL="0">
              <a:buNone/>
            </a:pPr>
            <a:r>
              <a:rPr lang="en-US" sz="1500" dirty="0">
                <a:solidFill>
                  <a:srgbClr val="1F2937"/>
                </a:solidFill>
              </a:rPr>
              <a:t>Predict the 5-day change, add it to today's yield</a:t>
            </a:r>
            <a:endParaRPr lang="en-US" sz="1500" dirty="0"/>
          </a:p>
          <a:p>
            <a:pPr indent="0" marL="0">
              <a:buNone/>
            </a:pPr>
            <a:r>
              <a:rPr lang="en-US" sz="1500" dirty="0">
                <a:solidFill>
                  <a:srgbClr val="1F2937"/>
                </a:solidFill>
              </a:rPr>
              <a:t> </a:t>
            </a:r>
            <a:endParaRPr lang="en-US" sz="1500" dirty="0"/>
          </a:p>
          <a:p>
            <a:pPr indent="0" marL="0">
              <a:buNone/>
            </a:pPr>
            <a:r>
              <a:rPr lang="en-US" sz="1500" b="1" dirty="0">
                <a:solidFill>
                  <a:srgbClr val="1F2937"/>
                </a:solidFill>
              </a:rPr>
              <a:t>Inputs</a:t>
            </a:r>
            <a:endParaRPr lang="en-US" sz="1500" dirty="0"/>
          </a:p>
          <a:p>
            <a:pPr indent="0" marL="0">
              <a:buNone/>
            </a:pPr>
            <a:r>
              <a:rPr lang="en-US" sz="1500" dirty="0">
                <a:solidFill>
                  <a:srgbClr val="1F2937"/>
                </a:solidFill>
              </a:rPr>
              <a:t>All 23 features</a:t>
            </a:r>
            <a:endParaRPr lang="en-US" sz="1500" dirty="0"/>
          </a:p>
        </p:txBody>
      </p:sp>
      <p:sp>
        <p:nvSpPr>
          <p:cNvPr id="14" name="card"/>
          <p:cNvSpPr/>
          <p:nvPr/>
        </p:nvSpPr>
        <p:spPr>
          <a:xfrm>
            <a:off x="8046720" y="1463040"/>
            <a:ext cx="3520440" cy="3840480"/>
          </a:xfrm>
          <a:prstGeom prst="roundRect">
            <a:avLst>
              <a:gd name="adj" fmla="val 2078"/>
            </a:avLst>
          </a:prstGeom>
          <a:solidFill>
            <a:srgbClr val="F3F4F6"/>
          </a:solidFill>
          <a:ln w="12700">
            <a:solidFill>
              <a:srgbClr val="F3F4F6"/>
            </a:solidFill>
            <a:prstDash val="solid"/>
          </a:ln>
        </p:spPr>
      </p:sp>
      <p:sp>
        <p:nvSpPr>
          <p:cNvPr id="15" name="badge"/>
          <p:cNvSpPr/>
          <p:nvPr/>
        </p:nvSpPr>
        <p:spPr>
          <a:xfrm>
            <a:off x="8275320" y="1691640"/>
            <a:ext cx="640080" cy="640080"/>
          </a:xfrm>
          <a:prstGeom prst="ellipse">
            <a:avLst/>
          </a:prstGeom>
          <a:solidFill>
            <a:srgbClr val="2A78D6"/>
          </a:solidFill>
          <a:ln w="12700">
            <a:solidFill>
              <a:srgbClr val="2A78D6"/>
            </a:solidFill>
            <a:prstDash val="solid"/>
          </a:ln>
        </p:spPr>
      </p:sp>
      <p:sp>
        <p:nvSpPr>
          <p:cNvPr id="16" name="badge text"/>
          <p:cNvSpPr txBox="1"/>
          <p:nvPr/>
        </p:nvSpPr>
        <p:spPr>
          <a:xfrm>
            <a:off x="82753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7" name="Text 14"/>
          <p:cNvSpPr txBox="1"/>
          <p:nvPr/>
        </p:nvSpPr>
        <p:spPr>
          <a:xfrm>
            <a:off x="9052560" y="1737360"/>
            <a:ext cx="2377440" cy="548640"/>
          </a:xfrm>
          <a:prstGeom prst="rect">
            <a:avLst/>
          </a:prstGeom>
          <a:noFill/>
          <a:ln/>
        </p:spPr>
        <p:txBody>
          <a:bodyPr wrap="square" lIns="0" tIns="0" rIns="0" bIns="0" rtlCol="0" anchor="ctr"/>
          <a:lstStyle/>
          <a:p>
            <a:pPr indent="0" marL="0">
              <a:buNone/>
            </a:pPr>
            <a:r>
              <a:rPr lang="en-US" sz="2000" b="1" dirty="0">
                <a:solidFill>
                  <a:srgbClr val="14213D"/>
                </a:solidFill>
              </a:rPr>
              <a:t>Change, no levels</a:t>
            </a:r>
            <a:endParaRPr lang="en-US" sz="2000" dirty="0"/>
          </a:p>
        </p:txBody>
      </p:sp>
      <p:sp>
        <p:nvSpPr>
          <p:cNvPr id="18" name="Text 15"/>
          <p:cNvSpPr txBox="1"/>
          <p:nvPr/>
        </p:nvSpPr>
        <p:spPr>
          <a:xfrm>
            <a:off x="8275320" y="2560320"/>
            <a:ext cx="3108960" cy="2560320"/>
          </a:xfrm>
          <a:prstGeom prst="rect">
            <a:avLst/>
          </a:prstGeom>
          <a:noFill/>
          <a:ln/>
        </p:spPr>
        <p:txBody>
          <a:bodyPr wrap="square" lIns="0" tIns="0" rIns="0" bIns="0" rtlCol="0" anchor="t"/>
          <a:lstStyle/>
          <a:p>
            <a:pPr indent="0" marL="0">
              <a:buNone/>
            </a:pPr>
            <a:r>
              <a:rPr lang="en-US" sz="1500" b="1" dirty="0">
                <a:solidFill>
                  <a:srgbClr val="1F2937"/>
                </a:solidFill>
              </a:rPr>
              <a:t>Target</a:t>
            </a:r>
            <a:endParaRPr lang="en-US" sz="1500" dirty="0"/>
          </a:p>
          <a:p>
            <a:pPr indent="0" marL="0">
              <a:buNone/>
            </a:pPr>
            <a:r>
              <a:rPr lang="en-US" sz="1500" dirty="0">
                <a:solidFill>
                  <a:srgbClr val="1F2937"/>
                </a:solidFill>
              </a:rPr>
              <a:t>Predict the 5-day change</a:t>
            </a:r>
            <a:endParaRPr lang="en-US" sz="1500" dirty="0"/>
          </a:p>
          <a:p>
            <a:pPr indent="0" marL="0">
              <a:buNone/>
            </a:pPr>
            <a:r>
              <a:rPr lang="en-US" sz="1500" dirty="0">
                <a:solidFill>
                  <a:srgbClr val="1F2937"/>
                </a:solidFill>
              </a:rPr>
              <a:t> </a:t>
            </a:r>
            <a:endParaRPr lang="en-US" sz="1500" dirty="0"/>
          </a:p>
          <a:p>
            <a:pPr indent="0" marL="0">
              <a:buNone/>
            </a:pPr>
            <a:r>
              <a:rPr lang="en-US" sz="1500" b="1" dirty="0">
                <a:solidFill>
                  <a:srgbClr val="1F2937"/>
                </a:solidFill>
              </a:rPr>
              <a:t>Inputs</a:t>
            </a:r>
            <a:endParaRPr lang="en-US" sz="1500" dirty="0"/>
          </a:p>
          <a:p>
            <a:pPr indent="0" marL="0">
              <a:buNone/>
            </a:pPr>
            <a:r>
              <a:rPr lang="en-US" sz="1500" dirty="0">
                <a:solidFill>
                  <a:srgbClr val="1F2937"/>
                </a:solidFill>
              </a:rPr>
              <a:t>15 features: spreads, changes, debt ratios, market data (no raw yields)</a:t>
            </a:r>
            <a:endParaRPr lang="en-US" sz="1500" dirty="0"/>
          </a:p>
        </p:txBody>
      </p:sp>
      <p:sp>
        <p:nvSpPr>
          <p:cNvPr id="19" name="Text 16"/>
          <p:cNvSpPr txBox="1"/>
          <p:nvPr/>
        </p:nvSpPr>
        <p:spPr>
          <a:xfrm>
            <a:off x="548640" y="5532120"/>
            <a:ext cx="11064240" cy="457200"/>
          </a:xfrm>
          <a:prstGeom prst="rect">
            <a:avLst/>
          </a:prstGeom>
          <a:noFill/>
          <a:ln/>
        </p:spPr>
        <p:txBody>
          <a:bodyPr wrap="square" rtlCol="0" anchor="ctr"/>
          <a:lstStyle/>
          <a:p>
            <a:pPr indent="0" marL="0">
              <a:buNone/>
            </a:pPr>
            <a:r>
              <a:rPr lang="en-US" sz="1600" dirty="0">
                <a:solidFill>
                  <a:srgbClr val="6B7280"/>
                </a:solidFill>
              </a:rPr>
              <a:t>Every experiment is scored on the rebuilt yield level, so A, B and C can be compared directly.</a:t>
            </a:r>
            <a:endParaRPr lang="en-US" sz="1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Seven models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6035040"/>
                <a:gridCol w="2103120"/>
              </a:tblGrid>
              <a:tr h="502920">
                <a:tc>
                  <a:txBody>
                    <a:bodyPr/>
                    <a:lstStyle/>
                    <a:p>
                      <a:pPr indent="0" marL="0">
                        <a:buNone/>
                      </a:pPr>
                      <a:r>
                        <a:rPr lang="en-US" sz="1500" b="1" dirty="0">
                          <a:solidFill>
                            <a:srgbClr val="FFFFFF"/>
                          </a:solidFill>
                        </a:rPr>
                        <a:t>Model</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rPr>
                        <a:t>How it works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rPr>
                        <a:t>Tuning</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r>
              <a:tr h="502920">
                <a:tc>
                  <a:txBody>
                    <a:bodyPr/>
                    <a:lstStyle/>
                    <a:p>
                      <a:pPr indent="0" marL="0">
                        <a:buNone/>
                      </a:pPr>
                      <a:r>
                        <a:rPr lang="en-US" sz="1500" b="1" dirty="0">
                          <a:solidFill>
                            <a:srgbClr val="1F2937"/>
                          </a:solidFill>
                        </a:rPr>
                        <a:t>Naive</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today's yield = next week's yield</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937"/>
                          </a:solidFill>
                        </a:rPr>
                        <a:t>Linear regression</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least squares on standardised features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937"/>
                          </a:solidFill>
                        </a:rPr>
                        <a:t>XGBoost</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boosted trees, one model per target, early stopping</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12 combinations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937"/>
                          </a:solidFill>
                        </a:rPr>
                        <a:t>Keras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MLP, Adam, MSE loss, dropout, early stopping</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6 architectures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937"/>
                          </a:solidFill>
                        </a:rPr>
                        <a:t>PyTorch + fastai</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tabular_learner, Normalize, lr_find, fit_one_cycle</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8 settings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937"/>
                          </a:solidFill>
                        </a:rPr>
                        <a:t>PyTorch + TabNet</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sequential attention with sparse feature masks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4 settings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937"/>
                          </a:solidFill>
                        </a:rPr>
                        <a:t>PyTorch + Lightning Flash</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TabularRegressor, MLP backbone, one model per target</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4 settings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532120"/>
            <a:ext cx="11064240" cy="411480"/>
          </a:xfrm>
          <a:prstGeom prst="rect">
            <a:avLst/>
          </a:prstGeom>
          <a:noFill/>
          <a:ln/>
        </p:spPr>
        <p:txBody>
          <a:bodyPr wrap="square" rtlCol="0" anchor="ctr"/>
          <a:lstStyle/>
          <a:p>
            <a:pPr indent="0" marL="0">
              <a:buNone/>
            </a:pPr>
            <a:r>
              <a:rPr lang="en-US" sz="1600" dirty="0">
                <a:solidFill>
                  <a:srgbClr val="6B7280"/>
                </a:solidFill>
              </a:rPr>
              <a:t>Neural networks: 3 random seeds each, results averaged</a:t>
            </a:r>
            <a:endParaRPr lang="en-US" sz="1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Experiment A: trees cannot extrapolate</a:t>
            </a:r>
            <a:endParaRPr lang="en-US" sz="3000" dirty="0"/>
          </a:p>
        </p:txBody>
      </p:sp>
      <p:pic>
        <p:nvPicPr>
          <p:cNvPr id="4" name="04_xgb_level_vs_change" descr="XGBoost level vs change">    </p:cNvPr>
          <p:cNvPicPr>
            <a:picLocks noChangeAspect="1"/>
          </p:cNvPicPr>
          <p:nvPr/>
        </p:nvPicPr>
        <p:blipFill>
          <a:blip r:embed="rId1"/>
          <a:stretch>
            <a:fillRect/>
          </a:stretch>
        </p:blipFill>
        <p:spPr>
          <a:xfrm>
            <a:off x="1004886" y="1280160"/>
            <a:ext cx="6402709" cy="4983480"/>
          </a:xfrm>
          <a:prstGeom prst="rect">
            <a:avLst/>
          </a:prstGeom>
        </p:spPr>
      </p:pic>
      <p:sp>
        <p:nvSpPr>
          <p:cNvPr id="5" name="stat value"/>
          <p:cNvSpPr txBox="1"/>
          <p:nvPr/>
        </p:nvSpPr>
        <p:spPr>
          <a:xfrm>
            <a:off x="8321040" y="1463040"/>
            <a:ext cx="3383280" cy="822960"/>
          </a:xfrm>
          <a:prstGeom prst="rect">
            <a:avLst/>
          </a:prstGeom>
          <a:noFill/>
          <a:ln/>
        </p:spPr>
        <p:txBody>
          <a:bodyPr wrap="square" lIns="0" tIns="0" rIns="0" bIns="0" rtlCol="0" anchor="ctr"/>
          <a:lstStyle/>
          <a:p>
            <a:pPr indent="0" marL="0">
              <a:buNone/>
            </a:pPr>
            <a:r>
              <a:rPr lang="en-US" sz="4000" b="1" dirty="0">
                <a:solidFill>
                  <a:srgbClr val="E34948"/>
                </a:solidFill>
                <a:latin typeface="Cambria" pitchFamily="34" charset="0"/>
                <a:ea typeface="Cambria" pitchFamily="34" charset="-122"/>
                <a:cs typeface="Cambria" pitchFamily="34" charset="-120"/>
              </a:rPr>
              <a:t>137 bp</a:t>
            </a:r>
            <a:endParaRPr lang="en-US" sz="4000" dirty="0"/>
          </a:p>
        </p:txBody>
      </p:sp>
      <p:sp>
        <p:nvSpPr>
          <p:cNvPr id="6" name="stat label"/>
          <p:cNvSpPr txBox="1"/>
          <p:nvPr/>
        </p:nvSpPr>
        <p:spPr>
          <a:xfrm>
            <a:off x="8321040" y="2286000"/>
            <a:ext cx="3383280" cy="685800"/>
          </a:xfrm>
          <a:prstGeom prst="rect">
            <a:avLst/>
          </a:prstGeom>
          <a:noFill/>
          <a:ln/>
        </p:spPr>
        <p:txBody>
          <a:bodyPr wrap="square" lIns="0" tIns="0" rIns="0" bIns="0" rtlCol="0" anchor="t"/>
          <a:lstStyle/>
          <a:p>
            <a:pPr indent="0" marL="0">
              <a:buNone/>
            </a:pPr>
            <a:r>
              <a:rPr lang="en-US" sz="1400" dirty="0">
                <a:solidFill>
                  <a:srgbClr val="6B7280"/>
                </a:solidFill>
              </a:rPr>
              <a:t>XGBoost average error when predicting the level (A)</a:t>
            </a:r>
            <a:endParaRPr lang="en-US" sz="1400" dirty="0"/>
          </a:p>
        </p:txBody>
      </p:sp>
      <p:sp>
        <p:nvSpPr>
          <p:cNvPr id="7" name="stat value"/>
          <p:cNvSpPr txBox="1"/>
          <p:nvPr/>
        </p:nvSpPr>
        <p:spPr>
          <a:xfrm>
            <a:off x="8321040" y="3108960"/>
            <a:ext cx="3383280" cy="822960"/>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13.8 bp</a:t>
            </a:r>
            <a:endParaRPr lang="en-US" sz="4000" dirty="0"/>
          </a:p>
        </p:txBody>
      </p:sp>
      <p:sp>
        <p:nvSpPr>
          <p:cNvPr id="8" name="stat label"/>
          <p:cNvSpPr txBox="1"/>
          <p:nvPr/>
        </p:nvSpPr>
        <p:spPr>
          <a:xfrm>
            <a:off x="8321040" y="3931920"/>
            <a:ext cx="3383280" cy="685800"/>
          </a:xfrm>
          <a:prstGeom prst="rect">
            <a:avLst/>
          </a:prstGeom>
          <a:noFill/>
          <a:ln/>
        </p:spPr>
        <p:txBody>
          <a:bodyPr wrap="square" lIns="0" tIns="0" rIns="0" bIns="0" rtlCol="0" anchor="t"/>
          <a:lstStyle/>
          <a:p>
            <a:pPr indent="0" marL="0">
              <a:buNone/>
            </a:pPr>
            <a:r>
              <a:rPr lang="en-US" sz="1400" dirty="0">
                <a:solidFill>
                  <a:srgbClr val="6B7280"/>
                </a:solidFill>
              </a:rPr>
              <a:t>XGBoost average error when predicting the change (C)</a:t>
            </a:r>
            <a:endParaRPr lang="en-US" sz="1400" dirty="0"/>
          </a:p>
        </p:txBody>
      </p:sp>
      <p:sp>
        <p:nvSpPr>
          <p:cNvPr id="9" name="Text 5"/>
          <p:cNvSpPr txBox="1"/>
          <p:nvPr/>
        </p:nvSpPr>
        <p:spPr>
          <a:xfrm>
            <a:off x="8321040" y="4846320"/>
            <a:ext cx="3383280" cy="1097280"/>
          </a:xfrm>
          <a:prstGeom prst="rect">
            <a:avLst/>
          </a:prstGeom>
          <a:noFill/>
          <a:ln/>
        </p:spPr>
        <p:txBody>
          <a:bodyPr wrap="square" rtlCol="0" anchor="ctr"/>
          <a:lstStyle/>
          <a:p>
            <a:pPr indent="0" marL="0">
              <a:buNone/>
            </a:pPr>
            <a:r>
              <a:rPr lang="en-US" sz="1700" b="1" dirty="0">
                <a:solidFill>
                  <a:srgbClr val="14213D"/>
                </a:solidFill>
              </a:rPr>
              <a:t>Lesson: the target choice matters more than the framework</a:t>
            </a:r>
            <a:endParaRPr lang="en-US" sz="17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Main result: no model beats the naive forecast</a:t>
            </a:r>
            <a:endParaRPr lang="en-US" sz="3000" dirty="0"/>
          </a:p>
        </p:txBody>
      </p:sp>
      <p:graphicFrame>
        <p:nvGraphicFramePr>
          <p:cNvPr id="4" name="Chart 0" descr=""/>
          <p:cNvGraphicFramePr/>
          <p:nvPr/>
        </p:nvGraphicFramePr>
        <p:xfrm>
          <a:off x="45720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stat value"/>
          <p:cNvSpPr txBox="1"/>
          <p:nvPr/>
        </p:nvSpPr>
        <p:spPr>
          <a:xfrm>
            <a:off x="7863840" y="1371600"/>
            <a:ext cx="3840480" cy="822960"/>
          </a:xfrm>
          <a:prstGeom prst="rect">
            <a:avLst/>
          </a:prstGeom>
          <a:noFill/>
          <a:ln/>
        </p:spPr>
        <p:txBody>
          <a:bodyPr wrap="square" lIns="0" tIns="0" rIns="0" bIns="0" rtlCol="0" anchor="ctr"/>
          <a:lstStyle/>
          <a:p>
            <a:pPr indent="0" marL="0">
              <a:buNone/>
            </a:pPr>
            <a:r>
              <a:rPr lang="en-US" sz="4000" b="1" dirty="0">
                <a:solidFill>
                  <a:srgbClr val="8A8984"/>
                </a:solidFill>
                <a:latin typeface="Cambria" pitchFamily="34" charset="0"/>
                <a:ea typeface="Cambria" pitchFamily="34" charset="-122"/>
                <a:cs typeface="Cambria" pitchFamily="34" charset="-120"/>
              </a:rPr>
              <a:t>13.2 bp</a:t>
            </a:r>
            <a:endParaRPr lang="en-US" sz="4000" dirty="0"/>
          </a:p>
        </p:txBody>
      </p:sp>
      <p:sp>
        <p:nvSpPr>
          <p:cNvPr id="6" name="stat label"/>
          <p:cNvSpPr txBox="1"/>
          <p:nvPr/>
        </p:nvSpPr>
        <p:spPr>
          <a:xfrm>
            <a:off x="7863840" y="2194560"/>
            <a:ext cx="3840480" cy="685800"/>
          </a:xfrm>
          <a:prstGeom prst="rect">
            <a:avLst/>
          </a:prstGeom>
          <a:noFill/>
          <a:ln/>
        </p:spPr>
        <p:txBody>
          <a:bodyPr wrap="square" lIns="0" tIns="0" rIns="0" bIns="0" rtlCol="0" anchor="t"/>
          <a:lstStyle/>
          <a:p>
            <a:pPr indent="0" marL="0">
              <a:buNone/>
            </a:pPr>
            <a:r>
              <a:rPr lang="en-US" sz="1400" dirty="0">
                <a:solidFill>
                  <a:srgbClr val="6B7280"/>
                </a:solidFill>
              </a:rPr>
              <a:t>average error of the naive "no change" forecast</a:t>
            </a:r>
            <a:endParaRPr lang="en-US" sz="1400" dirty="0"/>
          </a:p>
        </p:txBody>
      </p:sp>
      <p:sp>
        <p:nvSpPr>
          <p:cNvPr id="7" name="stat value"/>
          <p:cNvSpPr txBox="1"/>
          <p:nvPr/>
        </p:nvSpPr>
        <p:spPr>
          <a:xfrm>
            <a:off x="7863840" y="2926080"/>
            <a:ext cx="3840480" cy="82296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13.5 - 14.9 bp</a:t>
            </a:r>
            <a:endParaRPr lang="en-US" sz="4000" dirty="0"/>
          </a:p>
        </p:txBody>
      </p:sp>
      <p:sp>
        <p:nvSpPr>
          <p:cNvPr id="8" name="stat label"/>
          <p:cNvSpPr txBox="1"/>
          <p:nvPr/>
        </p:nvSpPr>
        <p:spPr>
          <a:xfrm>
            <a:off x="7863840" y="3749040"/>
            <a:ext cx="3840480" cy="685800"/>
          </a:xfrm>
          <a:prstGeom prst="rect">
            <a:avLst/>
          </a:prstGeom>
          <a:noFill/>
          <a:ln/>
        </p:spPr>
        <p:txBody>
          <a:bodyPr wrap="square" lIns="0" tIns="0" rIns="0" bIns="0" rtlCol="0" anchor="t"/>
          <a:lstStyle/>
          <a:p>
            <a:pPr indent="0" marL="0">
              <a:buNone/>
            </a:pPr>
            <a:r>
              <a:rPr lang="en-US" sz="1400" dirty="0">
                <a:solidFill>
                  <a:srgbClr val="6B7280"/>
                </a:solidFill>
              </a:rPr>
              <a:t>average error of all models (experiment C)</a:t>
            </a:r>
            <a:endParaRPr lang="en-US" sz="1400" dirty="0"/>
          </a:p>
        </p:txBody>
      </p:sp>
      <p:sp>
        <p:nvSpPr>
          <p:cNvPr id="9" name="bullets"/>
          <p:cNvSpPr txBox="1"/>
          <p:nvPr/>
        </p:nvSpPr>
        <p:spPr>
          <a:xfrm>
            <a:off x="7863840" y="4526280"/>
            <a:ext cx="3931920" cy="1737360"/>
          </a:xfrm>
          <a:prstGeom prst="rect">
            <a:avLst/>
          </a:prstGeom>
          <a:noFill/>
          <a:ln/>
        </p:spPr>
        <p:txBody>
          <a:bodyPr wrap="square" rtlCol="0" anchor="t"/>
          <a:lstStyle/>
          <a:p>
            <a:pPr marL="342900" indent="-342900">
              <a:spcAft>
                <a:spcPts val="800"/>
              </a:spcAft>
              <a:buSzPct val="100000"/>
              <a:buChar char="•"/>
            </a:pPr>
            <a:r>
              <a:rPr lang="en-US" sz="1500" dirty="0">
                <a:solidFill>
                  <a:srgbClr val="1F2937"/>
                </a:solidFill>
              </a:rPr>
              <a:t>Simpler models come closest to naive</a:t>
            </a:r>
            <a:endParaRPr lang="en-US" sz="1500" dirty="0"/>
          </a:p>
          <a:p>
            <a:pPr marL="342900" indent="-342900">
              <a:spcAft>
                <a:spcPts val="800"/>
              </a:spcAft>
              <a:buSzPct val="100000"/>
              <a:buChar char="•"/>
            </a:pPr>
            <a:r>
              <a:rPr lang="en-US" sz="1500" dirty="0">
                <a:solidFill>
                  <a:srgbClr val="1F2937"/>
                </a:solidFill>
              </a:rPr>
              <a:t>Direction accuracy only 47-57%</a:t>
            </a:r>
            <a:endParaRPr lang="en-US" sz="1500" dirty="0"/>
          </a:p>
          <a:p>
            <a:pPr marL="342900" indent="-342900">
              <a:spcAft>
                <a:spcPts val="800"/>
              </a:spcAft>
              <a:buSzPct val="100000"/>
              <a:buChar char="•"/>
            </a:pPr>
            <a:r>
              <a:rPr lang="en-US" sz="1500" dirty="0">
                <a:solidFill>
                  <a:srgbClr val="1F2937"/>
                </a:solidFill>
              </a:rPr>
              <a:t>R² on levels 0.82-0.96 for every model, even naive</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All experiments at a glance</a:t>
            </a:r>
            <a:endParaRPr lang="en-US" sz="3000" dirty="0"/>
          </a:p>
        </p:txBody>
      </p:sp>
      <p:pic>
        <p:nvPicPr>
          <p:cNvPr id="4" name="09_skill_heatmap" descr="Skill heatmap">    </p:cNvPr>
          <p:cNvPicPr>
            <a:picLocks noChangeAspect="1"/>
          </p:cNvPicPr>
          <p:nvPr/>
        </p:nvPicPr>
        <p:blipFill>
          <a:blip r:embed="rId1"/>
          <a:stretch>
            <a:fillRect/>
          </a:stretch>
        </p:blipFill>
        <p:spPr>
          <a:xfrm>
            <a:off x="1460669" y="1280160"/>
            <a:ext cx="9240181" cy="4343400"/>
          </a:xfrm>
          <a:prstGeom prst="rect">
            <a:avLst/>
          </a:prstGeom>
        </p:spPr>
      </p:pic>
      <p:sp>
        <p:nvSpPr>
          <p:cNvPr id="5" name="Text 1"/>
          <p:cNvSpPr txBox="1"/>
          <p:nvPr/>
        </p:nvSpPr>
        <p:spPr>
          <a:xfrm>
            <a:off x="548640" y="5715000"/>
            <a:ext cx="11064240" cy="457200"/>
          </a:xfrm>
          <a:prstGeom prst="rect">
            <a:avLst/>
          </a:prstGeom>
          <a:noFill/>
          <a:ln/>
        </p:spPr>
        <p:txBody>
          <a:bodyPr wrap="square" rtlCol="0" anchor="ctr"/>
          <a:lstStyle/>
          <a:p>
            <a:pPr algn="ctr" indent="0" marL="0">
              <a:buNone/>
            </a:pPr>
            <a:r>
              <a:rPr lang="en-US" sz="1700" b="1" dirty="0">
                <a:solidFill>
                  <a:srgbClr val="EB6834"/>
                </a:solidFill>
              </a:rPr>
              <a:t>Going from A to C cuts the error of every learned model by 1.5 to 10 times</a:t>
            </a:r>
            <a:endParaRPr lang="en-US" sz="17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Are the differences real?</a:t>
            </a:r>
            <a:endParaRPr lang="en-US" sz="3000" dirty="0"/>
          </a:p>
        </p:txBody>
      </p:sp>
      <p:sp>
        <p:nvSpPr>
          <p:cNvPr id="4" name="stat value"/>
          <p:cNvSpPr txBox="1"/>
          <p:nvPr/>
        </p:nvSpPr>
        <p:spPr>
          <a:xfrm>
            <a:off x="548640" y="1463040"/>
            <a:ext cx="3383280" cy="822960"/>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0 / 18</a:t>
            </a:r>
            <a:endParaRPr lang="en-US" sz="4000" dirty="0"/>
          </a:p>
        </p:txBody>
      </p:sp>
      <p:sp>
        <p:nvSpPr>
          <p:cNvPr id="5" name="stat label"/>
          <p:cNvSpPr txBox="1"/>
          <p:nvPr/>
        </p:nvSpPr>
        <p:spPr>
          <a:xfrm>
            <a:off x="548640" y="2286000"/>
            <a:ext cx="3383280" cy="685800"/>
          </a:xfrm>
          <a:prstGeom prst="rect">
            <a:avLst/>
          </a:prstGeom>
          <a:noFill/>
          <a:ln/>
        </p:spPr>
        <p:txBody>
          <a:bodyPr wrap="square" lIns="0" tIns="0" rIns="0" bIns="0" rtlCol="0" anchor="t"/>
          <a:lstStyle/>
          <a:p>
            <a:pPr indent="0" marL="0">
              <a:buNone/>
            </a:pPr>
            <a:r>
              <a:rPr lang="en-US" sz="1400" dirty="0">
                <a:solidFill>
                  <a:srgbClr val="6B7280"/>
                </a:solidFill>
              </a:rPr>
              <a:t>model-target pairs significantly better than naive (Diebold-Mariano, 5%)</a:t>
            </a:r>
            <a:endParaRPr lang="en-US" sz="1400" dirty="0"/>
          </a:p>
        </p:txBody>
      </p:sp>
      <p:sp>
        <p:nvSpPr>
          <p:cNvPr id="6" name="stat value"/>
          <p:cNvSpPr txBox="1"/>
          <p:nvPr/>
        </p:nvSpPr>
        <p:spPr>
          <a:xfrm>
            <a:off x="548640" y="3108960"/>
            <a:ext cx="3383280" cy="822960"/>
          </a:xfrm>
          <a:prstGeom prst="rect">
            <a:avLst/>
          </a:prstGeom>
          <a:noFill/>
          <a:ln/>
        </p:spPr>
        <p:txBody>
          <a:bodyPr wrap="square" lIns="0" tIns="0" rIns="0" bIns="0" rtlCol="0" anchor="ctr"/>
          <a:lstStyle/>
          <a:p>
            <a:pPr indent="0" marL="0">
              <a:buNone/>
            </a:pPr>
            <a:r>
              <a:rPr lang="en-US" sz="4000" b="1" dirty="0">
                <a:solidFill>
                  <a:srgbClr val="E34948"/>
                </a:solidFill>
                <a:latin typeface="Cambria" pitchFamily="34" charset="0"/>
                <a:ea typeface="Cambria" pitchFamily="34" charset="-122"/>
                <a:cs typeface="Cambria" pitchFamily="34" charset="-120"/>
              </a:rPr>
              <a:t>8 / 18</a:t>
            </a:r>
            <a:endParaRPr lang="en-US" sz="4000" dirty="0"/>
          </a:p>
        </p:txBody>
      </p:sp>
      <p:sp>
        <p:nvSpPr>
          <p:cNvPr id="7" name="stat label"/>
          <p:cNvSpPr txBox="1"/>
          <p:nvPr/>
        </p:nvSpPr>
        <p:spPr>
          <a:xfrm>
            <a:off x="548640" y="3931920"/>
            <a:ext cx="3383280" cy="685800"/>
          </a:xfrm>
          <a:prstGeom prst="rect">
            <a:avLst/>
          </a:prstGeom>
          <a:noFill/>
          <a:ln/>
        </p:spPr>
        <p:txBody>
          <a:bodyPr wrap="square" lIns="0" tIns="0" rIns="0" bIns="0" rtlCol="0" anchor="t"/>
          <a:lstStyle/>
          <a:p>
            <a:pPr indent="0" marL="0">
              <a:buNone/>
            </a:pPr>
            <a:r>
              <a:rPr lang="en-US" sz="1400" dirty="0">
                <a:solidFill>
                  <a:srgbClr val="6B7280"/>
                </a:solidFill>
              </a:rPr>
              <a:t>significantly worse, mostly the 30Y</a:t>
            </a:r>
            <a:endParaRPr lang="en-US" sz="1400" dirty="0"/>
          </a:p>
        </p:txBody>
      </p:sp>
      <p:sp>
        <p:nvSpPr>
          <p:cNvPr id="8" name="Text 5"/>
          <p:cNvSpPr txBox="1"/>
          <p:nvPr/>
        </p:nvSpPr>
        <p:spPr>
          <a:xfrm>
            <a:off x="548640" y="4754880"/>
            <a:ext cx="3383280" cy="1280160"/>
          </a:xfrm>
          <a:prstGeom prst="rect">
            <a:avLst/>
          </a:prstGeom>
          <a:noFill/>
          <a:ln/>
        </p:spPr>
        <p:txBody>
          <a:bodyPr wrap="square" rtlCol="0" anchor="ctr"/>
          <a:lstStyle/>
          <a:p>
            <a:pPr indent="0" marL="0">
              <a:buNone/>
            </a:pPr>
            <a:r>
              <a:rPr lang="en-US" sz="1500" dirty="0">
                <a:solidFill>
                  <a:srgbClr val="1F2937"/>
                </a:solidFill>
              </a:rPr>
              <a:t>Matches research: a random walk is very hard to beat at short horizons (Diebold &amp; Li, 2006)</a:t>
            </a:r>
            <a:endParaRPr lang="en-US" sz="1500" dirty="0"/>
          </a:p>
        </p:txBody>
      </p:sp>
      <p:pic>
        <p:nvPicPr>
          <p:cNvPr id="9" name="09_rolling_rmse" descr="Rolling RMSE">    </p:cNvPr>
          <p:cNvPicPr>
            <a:picLocks noChangeAspect="1"/>
          </p:cNvPicPr>
          <p:nvPr/>
        </p:nvPicPr>
        <p:blipFill>
          <a:blip r:embed="rId1"/>
          <a:stretch>
            <a:fillRect/>
          </a:stretch>
        </p:blipFill>
        <p:spPr>
          <a:xfrm>
            <a:off x="4588988" y="1280160"/>
            <a:ext cx="6732584" cy="4983480"/>
          </a:xfrm>
          <a:prstGeom prst="rect">
            <a:avLst/>
          </a:prstGeom>
        </p:spPr>
      </p:pic>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Explaining the models</a:t>
            </a:r>
            <a:endParaRPr lang="en-US" sz="3000" dirty="0"/>
          </a:p>
        </p:txBody>
      </p:sp>
      <p:pic>
        <p:nvPicPr>
          <p:cNvPr id="4" name="04_xgb_shap_5y" descr="SHAP">    </p:cNvPr>
          <p:cNvPicPr>
            <a:picLocks noChangeAspect="1"/>
          </p:cNvPicPr>
          <p:nvPr/>
        </p:nvPicPr>
        <p:blipFill>
          <a:blip r:embed="rId1"/>
          <a:stretch>
            <a:fillRect/>
          </a:stretch>
        </p:blipFill>
        <p:spPr>
          <a:xfrm>
            <a:off x="457200" y="1280160"/>
            <a:ext cx="5394960" cy="2769439"/>
          </a:xfrm>
          <a:prstGeom prst="rect">
            <a:avLst/>
          </a:prstGeom>
        </p:spPr>
      </p:pic>
      <p:pic>
        <p:nvPicPr>
          <p:cNvPr id="5" name="07_tabnet_masks" descr="TabNet masks">    </p:cNvPr>
          <p:cNvPicPr>
            <a:picLocks noChangeAspect="1"/>
          </p:cNvPicPr>
          <p:nvPr/>
        </p:nvPicPr>
        <p:blipFill>
          <a:blip r:embed="rId2"/>
          <a:stretch>
            <a:fillRect/>
          </a:stretch>
        </p:blipFill>
        <p:spPr>
          <a:xfrm>
            <a:off x="6035040" y="1371600"/>
            <a:ext cx="5669280" cy="2583958"/>
          </a:xfrm>
          <a:prstGeom prst="rect">
            <a:avLst/>
          </a:prstGeom>
        </p:spPr>
      </p:pic>
      <p:sp>
        <p:nvSpPr>
          <p:cNvPr id="6" name="Text 1"/>
          <p:cNvSpPr txBox="1"/>
          <p:nvPr/>
        </p:nvSpPr>
        <p:spPr>
          <a:xfrm>
            <a:off x="548640" y="5349240"/>
            <a:ext cx="5303520" cy="457200"/>
          </a:xfrm>
          <a:prstGeom prst="rect">
            <a:avLst/>
          </a:prstGeom>
          <a:noFill/>
          <a:ln/>
        </p:spPr>
        <p:txBody>
          <a:bodyPr wrap="square" rtlCol="0" anchor="ctr"/>
          <a:lstStyle/>
          <a:p>
            <a:pPr indent="0" marL="0">
              <a:buNone/>
            </a:pPr>
            <a:r>
              <a:rPr lang="en-US" sz="1500" b="1" dirty="0">
                <a:solidFill>
                  <a:srgbClr val="1F2937"/>
                </a:solidFill>
              </a:rPr>
              <a:t>XGBoost + SHAP: </a:t>
            </a:r>
            <a:pPr indent="0" marL="0">
              <a:buNone/>
            </a:pPr>
            <a:r>
              <a:rPr lang="en-US" sz="1500" dirty="0">
                <a:solidFill>
                  <a:srgbClr val="1F2937"/>
                </a:solidFill>
              </a:rPr>
              <a:t>wide credit spread → lower forecast</a:t>
            </a:r>
            <a:endParaRPr lang="en-US" sz="1500" dirty="0"/>
          </a:p>
        </p:txBody>
      </p:sp>
      <p:sp>
        <p:nvSpPr>
          <p:cNvPr id="7" name="Text 2"/>
          <p:cNvSpPr txBox="1"/>
          <p:nvPr/>
        </p:nvSpPr>
        <p:spPr>
          <a:xfrm>
            <a:off x="6126480" y="4846320"/>
            <a:ext cx="5486400" cy="457200"/>
          </a:xfrm>
          <a:prstGeom prst="rect">
            <a:avLst/>
          </a:prstGeom>
          <a:noFill/>
          <a:ln/>
        </p:spPr>
        <p:txBody>
          <a:bodyPr wrap="square" rtlCol="0" anchor="ctr"/>
          <a:lstStyle/>
          <a:p>
            <a:pPr indent="0" marL="0">
              <a:buNone/>
            </a:pPr>
            <a:r>
              <a:rPr lang="en-US" sz="1500" b="1" dirty="0">
                <a:solidFill>
                  <a:srgbClr val="1F2937"/>
                </a:solidFill>
              </a:rPr>
              <a:t>TabNet masks: </a:t>
            </a:r>
            <a:pPr indent="0" marL="0">
              <a:buNone/>
            </a:pPr>
            <a:r>
              <a:rPr lang="en-US" sz="1500" dirty="0">
                <a:solidFill>
                  <a:srgbClr val="1F2937"/>
                </a:solidFill>
              </a:rPr>
              <a:t>attention shifts during the March 2023 bank stress</a:t>
            </a:r>
            <a:endParaRPr lang="en-US" sz="1500" dirty="0"/>
          </a:p>
        </p:txBody>
      </p:sp>
      <p:sp>
        <p:nvSpPr>
          <p:cNvPr id="8" name="Text 3"/>
          <p:cNvSpPr txBox="1"/>
          <p:nvPr/>
        </p:nvSpPr>
        <p:spPr>
          <a:xfrm>
            <a:off x="6126480" y="5349240"/>
            <a:ext cx="5486400" cy="457200"/>
          </a:xfrm>
          <a:prstGeom prst="rect">
            <a:avLst/>
          </a:prstGeom>
          <a:noFill/>
          <a:ln/>
        </p:spPr>
        <p:txBody>
          <a:bodyPr wrap="square" rtlCol="0" anchor="ctr"/>
          <a:lstStyle/>
          <a:p>
            <a:pPr indent="0" marL="0">
              <a:buNone/>
            </a:pPr>
            <a:r>
              <a:rPr lang="en-US" sz="1500" b="1" dirty="0">
                <a:solidFill>
                  <a:srgbClr val="1F2937"/>
                </a:solidFill>
              </a:rPr>
              <a:t>Most used input: </a:t>
            </a:r>
            <a:pPr indent="0" marL="0">
              <a:buNone/>
            </a:pPr>
            <a:r>
              <a:rPr lang="en-US" sz="1500" dirty="0">
                <a:solidFill>
                  <a:srgbClr val="1F2937"/>
                </a:solidFill>
              </a:rPr>
              <a:t>10Y-3M slope (top 5 in 5 of 6 models)</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Simplicity, transparency and efficacy</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1645920"/>
                <a:gridCol w="1051560"/>
                <a:gridCol w="1234440"/>
                <a:gridCol w="914400"/>
                <a:gridCol w="1005840"/>
              </a:tblGrid>
              <a:tr h="457200">
                <a:tc>
                  <a:txBody>
                    <a:bodyPr/>
                    <a:lstStyle/>
                    <a:p>
                      <a:pPr algn="ctr" indent="0" marL="0">
                        <a:buNone/>
                      </a:pPr>
                      <a:r>
                        <a:rPr lang="en-US" sz="1500" b="1" dirty="0">
                          <a:solidFill>
                            <a:srgbClr val="FFFFFF"/>
                          </a:solidFill>
                        </a:rPr>
                        <a:t>Framework</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Simplicity</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Transparency</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Efficacy</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Overall</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r>
              <a:tr h="457200">
                <a:tc>
                  <a:txBody>
                    <a:bodyPr/>
                    <a:lstStyle/>
                    <a:p>
                      <a:pPr algn="l" indent="0" marL="0">
                        <a:buNone/>
                      </a:pPr>
                      <a:r>
                        <a:rPr lang="en-US" sz="1500" b="1" dirty="0">
                          <a:solidFill>
                            <a:srgbClr val="1F2937"/>
                          </a:solidFill>
                        </a:rPr>
                        <a:t>XGBoost</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4.0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5.0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5.0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EB6834"/>
                          </a:solidFill>
                        </a:rPr>
                        <a:t>4.67</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457200">
                <a:tc>
                  <a:txBody>
                    <a:bodyPr/>
                    <a:lstStyle/>
                    <a:p>
                      <a:pPr algn="l" indent="0" marL="0">
                        <a:buNone/>
                      </a:pPr>
                      <a:r>
                        <a:rPr lang="en-US" sz="1500" b="1" dirty="0">
                          <a:solidFill>
                            <a:srgbClr val="1F2937"/>
                          </a:solidFill>
                        </a:rPr>
                        <a:t>TabNet</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2.4</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3.5</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2.5</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1F2937"/>
                          </a:solidFill>
                        </a:rPr>
                        <a:t>2.79</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457200">
                <a:tc>
                  <a:txBody>
                    <a:bodyPr/>
                    <a:lstStyle/>
                    <a:p>
                      <a:pPr algn="l" indent="0" marL="0">
                        <a:buNone/>
                      </a:pPr>
                      <a:r>
                        <a:rPr lang="en-US" sz="1500" b="1" dirty="0">
                          <a:solidFill>
                            <a:srgbClr val="1F2937"/>
                          </a:solidFill>
                        </a:rPr>
                        <a:t>Keras</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3.0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1.0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3.5</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1F2937"/>
                          </a:solidFill>
                        </a:rPr>
                        <a:t>2.50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457200">
                <a:tc>
                  <a:txBody>
                    <a:bodyPr/>
                    <a:lstStyle/>
                    <a:p>
                      <a:pPr algn="l" indent="0" marL="0">
                        <a:buNone/>
                      </a:pPr>
                      <a:r>
                        <a:rPr lang="en-US" sz="1500" b="1" dirty="0">
                          <a:solidFill>
                            <a:srgbClr val="1F2937"/>
                          </a:solidFill>
                        </a:rPr>
                        <a:t>fastai</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3.4</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1.0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2.0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1F2937"/>
                          </a:solidFill>
                        </a:rPr>
                        <a:t>2.13</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457200">
                <a:tc>
                  <a:txBody>
                    <a:bodyPr/>
                    <a:lstStyle/>
                    <a:p>
                      <a:pPr algn="l" indent="0" marL="0">
                        <a:buNone/>
                      </a:pPr>
                      <a:r>
                        <a:rPr lang="en-US" sz="1500" b="1" dirty="0">
                          <a:solidFill>
                            <a:srgbClr val="1F2937"/>
                          </a:solidFill>
                        </a:rPr>
                        <a:t>Flash</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2.3</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1.0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dirty="0">
                          <a:solidFill>
                            <a:srgbClr val="1F2937"/>
                          </a:solidFill>
                        </a:rPr>
                        <a:t>2.0</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1F2937"/>
                          </a:solidFill>
                        </a:rPr>
                        <a:t>1.75</a:t>
                      </a:r>
                      <a:endParaRPr lang="en-US" sz="15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548640" y="4343400"/>
            <a:ext cx="5852160" cy="914400"/>
          </a:xfrm>
          <a:prstGeom prst="rect">
            <a:avLst/>
          </a:prstGeom>
          <a:noFill/>
          <a:ln/>
        </p:spPr>
        <p:txBody>
          <a:bodyPr wrap="square" rtlCol="0" anchor="ctr"/>
          <a:lstStyle/>
          <a:p>
            <a:pPr indent="0" marL="0">
              <a:buNone/>
            </a:pPr>
            <a:r>
              <a:rPr lang="en-US" sz="1300" dirty="0">
                <a:solidFill>
                  <a:srgbClr val="6B7280"/>
                </a:solidFill>
              </a:rPr>
              <a:t>Scores from 1 (worst) to 5 (best), based on measured values (lines of code, hyperparameters, training time, setup effort, explanation features, skill and direction accuracy)</a:t>
            </a:r>
            <a:endParaRPr lang="en-US" sz="1300" dirty="0"/>
          </a:p>
        </p:txBody>
      </p:sp>
      <p:sp>
        <p:nvSpPr>
          <p:cNvPr id="6" name="card"/>
          <p:cNvSpPr/>
          <p:nvPr/>
        </p:nvSpPr>
        <p:spPr>
          <a:xfrm>
            <a:off x="6766560" y="1371600"/>
            <a:ext cx="4892040" cy="4480560"/>
          </a:xfrm>
          <a:prstGeom prst="roundRect">
            <a:avLst>
              <a:gd name="adj" fmla="val 1633"/>
            </a:avLst>
          </a:prstGeom>
          <a:solidFill>
            <a:srgbClr val="F3F4F6"/>
          </a:solidFill>
          <a:ln w="12700">
            <a:solidFill>
              <a:srgbClr val="F3F4F6"/>
            </a:solidFill>
            <a:prstDash val="solid"/>
          </a:ln>
        </p:spPr>
      </p:sp>
      <p:sp>
        <p:nvSpPr>
          <p:cNvPr id="7" name="Text 3"/>
          <p:cNvSpPr txBox="1"/>
          <p:nvPr/>
        </p:nvSpPr>
        <p:spPr>
          <a:xfrm>
            <a:off x="6995160" y="1508760"/>
            <a:ext cx="4480560" cy="457200"/>
          </a:xfrm>
          <a:prstGeom prst="rect">
            <a:avLst/>
          </a:prstGeom>
          <a:noFill/>
          <a:ln/>
        </p:spPr>
        <p:txBody>
          <a:bodyPr wrap="square" lIns="0" tIns="0" rIns="0" bIns="0" rtlCol="0" anchor="ctr"/>
          <a:lstStyle/>
          <a:p>
            <a:pPr indent="0" marL="0">
              <a:buNone/>
            </a:pPr>
            <a:r>
              <a:rPr lang="en-US" sz="1900" b="1" dirty="0">
                <a:solidFill>
                  <a:srgbClr val="14213D"/>
                </a:solidFill>
              </a:rPr>
              <a:t>Why XGBoost wins</a:t>
            </a:r>
            <a:endParaRPr lang="en-US" sz="1900" dirty="0"/>
          </a:p>
        </p:txBody>
      </p:sp>
      <p:sp>
        <p:nvSpPr>
          <p:cNvPr id="8" name="bullets"/>
          <p:cNvSpPr txBox="1"/>
          <p:nvPr/>
        </p:nvSpPr>
        <p:spPr>
          <a:xfrm>
            <a:off x="6995160" y="2057400"/>
            <a:ext cx="4480560" cy="2011680"/>
          </a:xfrm>
          <a:prstGeom prst="rect">
            <a:avLst/>
          </a:prstGeom>
          <a:noFill/>
          <a:ln/>
        </p:spPr>
        <p:txBody>
          <a:bodyPr wrap="square" rtlCol="0" anchor="t"/>
          <a:lstStyle/>
          <a:p>
            <a:pPr marL="342900" indent="-342900">
              <a:spcAft>
                <a:spcPts val="800"/>
              </a:spcAft>
              <a:buSzPct val="100000"/>
              <a:buChar char="•"/>
            </a:pPr>
            <a:r>
              <a:rPr lang="en-US" sz="1600" dirty="0">
                <a:solidFill>
                  <a:srgbClr val="1F2937"/>
                </a:solidFill>
              </a:rPr>
              <a:t>5 lines of code, under 1 s to train</a:t>
            </a:r>
            <a:endParaRPr lang="en-US" sz="1600" dirty="0"/>
          </a:p>
          <a:p>
            <a:pPr marL="342900" indent="-342900">
              <a:spcAft>
                <a:spcPts val="800"/>
              </a:spcAft>
              <a:buSzPct val="100000"/>
              <a:buChar char="•"/>
            </a:pPr>
            <a:r>
              <a:rPr lang="en-US" sz="1600" dirty="0">
                <a:solidFill>
                  <a:srgbClr val="1F2937"/>
                </a:solidFill>
              </a:rPr>
              <a:t>Gain importance and exact SHAP values</a:t>
            </a:r>
            <a:endParaRPr lang="en-US" sz="1600" dirty="0"/>
          </a:p>
          <a:p>
            <a:pPr marL="342900" indent="-342900">
              <a:spcAft>
                <a:spcPts val="800"/>
              </a:spcAft>
              <a:buSzPct val="100000"/>
              <a:buChar char="•"/>
            </a:pPr>
            <a:r>
              <a:rPr lang="en-US" sz="1600" dirty="0">
                <a:solidFill>
                  <a:srgbClr val="1F2937"/>
                </a:solidFill>
              </a:rPr>
              <a:t>Same result on every run</a:t>
            </a:r>
            <a:endParaRPr lang="en-US" sz="1600" dirty="0"/>
          </a:p>
          <a:p>
            <a:pPr marL="342900" indent="-342900">
              <a:spcAft>
                <a:spcPts val="800"/>
              </a:spcAft>
              <a:buSzPct val="100000"/>
              <a:buChar char="•"/>
            </a:pPr>
            <a:r>
              <a:rPr lang="en-US" sz="1600" dirty="0">
                <a:solidFill>
                  <a:srgbClr val="1F2937"/>
                </a:solidFill>
              </a:rPr>
              <a:t>Best results of the five frameworks</a:t>
            </a:r>
            <a:endParaRPr lang="en-US" sz="1600" dirty="0"/>
          </a:p>
        </p:txBody>
      </p:sp>
      <p:sp>
        <p:nvSpPr>
          <p:cNvPr id="9" name="Text 5"/>
          <p:cNvSpPr txBox="1"/>
          <p:nvPr/>
        </p:nvSpPr>
        <p:spPr>
          <a:xfrm>
            <a:off x="6995160" y="3977640"/>
            <a:ext cx="4480560" cy="457200"/>
          </a:xfrm>
          <a:prstGeom prst="rect">
            <a:avLst/>
          </a:prstGeom>
          <a:noFill/>
          <a:ln/>
        </p:spPr>
        <p:txBody>
          <a:bodyPr wrap="square" lIns="0" tIns="0" rIns="0" bIns="0" rtlCol="0" anchor="ctr"/>
          <a:lstStyle/>
          <a:p>
            <a:pPr indent="0" marL="0">
              <a:buNone/>
            </a:pPr>
            <a:r>
              <a:rPr lang="en-US" sz="1900" b="1" dirty="0">
                <a:solidFill>
                  <a:srgbClr val="14213D"/>
                </a:solidFill>
              </a:rPr>
              <a:t>Why Flash is last</a:t>
            </a:r>
            <a:endParaRPr lang="en-US" sz="1900" dirty="0"/>
          </a:p>
        </p:txBody>
      </p:sp>
      <p:sp>
        <p:nvSpPr>
          <p:cNvPr id="10" name="bullets"/>
          <p:cNvSpPr txBox="1"/>
          <p:nvPr/>
        </p:nvSpPr>
        <p:spPr>
          <a:xfrm>
            <a:off x="6995160" y="4480560"/>
            <a:ext cx="4480560" cy="1280160"/>
          </a:xfrm>
          <a:prstGeom prst="rect">
            <a:avLst/>
          </a:prstGeom>
          <a:noFill/>
          <a:ln/>
        </p:spPr>
        <p:txBody>
          <a:bodyPr wrap="square" rtlCol="0" anchor="t"/>
          <a:lstStyle/>
          <a:p>
            <a:pPr marL="342900" indent="-342900">
              <a:spcAft>
                <a:spcPts val="800"/>
              </a:spcAft>
              <a:buSzPct val="100000"/>
              <a:buChar char="•"/>
            </a:pPr>
            <a:r>
              <a:rPr lang="en-US" sz="1600" dirty="0">
                <a:solidFill>
                  <a:srgbClr val="1F2937"/>
                </a:solidFill>
              </a:rPr>
              <a:t>Archived in 2023: separate Python 3.10 environment</a:t>
            </a:r>
            <a:endParaRPr lang="en-US" sz="1600" dirty="0"/>
          </a:p>
          <a:p>
            <a:pPr marL="342900" indent="-342900">
              <a:spcAft>
                <a:spcPts val="800"/>
              </a:spcAft>
              <a:buSzPct val="100000"/>
              <a:buChar char="•"/>
            </a:pPr>
            <a:r>
              <a:rPr lang="en-US" sz="1600" dirty="0">
                <a:solidFill>
                  <a:srgbClr val="1F2937"/>
                </a:solidFill>
              </a:rPr>
              <a:t>In-place data bug gave wrong forecasts</a:t>
            </a:r>
            <a:endParaRPr lang="en-US" sz="1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Problems we solved</a:t>
            </a:r>
            <a:endParaRPr lang="en-US" sz="3000" dirty="0"/>
          </a:p>
        </p:txBody>
      </p:sp>
      <p:sp>
        <p:nvSpPr>
          <p:cNvPr id="4" name="badge"/>
          <p:cNvSpPr/>
          <p:nvPr/>
        </p:nvSpPr>
        <p:spPr>
          <a:xfrm>
            <a:off x="548640" y="1463040"/>
            <a:ext cx="548640" cy="548640"/>
          </a:xfrm>
          <a:prstGeom prst="ellipse">
            <a:avLst/>
          </a:prstGeom>
          <a:solidFill>
            <a:srgbClr val="EB6834"/>
          </a:solidFill>
          <a:ln w="12700">
            <a:solidFill>
              <a:srgbClr val="EB6834"/>
            </a:solidFill>
            <a:prstDash val="solid"/>
          </a:ln>
        </p:spPr>
      </p:sp>
      <p:sp>
        <p:nvSpPr>
          <p:cNvPr id="5" name="badge text"/>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3"/>
          <p:cNvSpPr txBox="1"/>
          <p:nvPr/>
        </p:nvSpPr>
        <p:spPr>
          <a:xfrm>
            <a:off x="1325880" y="1371600"/>
            <a:ext cx="10241280" cy="411480"/>
          </a:xfrm>
          <a:prstGeom prst="rect">
            <a:avLst/>
          </a:prstGeom>
          <a:noFill/>
          <a:ln/>
        </p:spPr>
        <p:txBody>
          <a:bodyPr wrap="square" lIns="0" tIns="0" rIns="0" bIns="0" rtlCol="0" anchor="ctr"/>
          <a:lstStyle/>
          <a:p>
            <a:pPr indent="0" marL="0">
              <a:buNone/>
            </a:pPr>
            <a:r>
              <a:rPr lang="en-US" sz="1800" b="1" dirty="0">
                <a:solidFill>
                  <a:srgbClr val="14213D"/>
                </a:solidFill>
              </a:rPr>
              <a:t>Lightning Flash bug</a:t>
            </a:r>
            <a:endParaRPr lang="en-US" sz="1800" dirty="0"/>
          </a:p>
        </p:txBody>
      </p:sp>
      <p:sp>
        <p:nvSpPr>
          <p:cNvPr id="7" name="Text 4"/>
          <p:cNvSpPr txBox="1"/>
          <p:nvPr/>
        </p:nvSpPr>
        <p:spPr>
          <a:xfrm>
            <a:off x="1325880" y="1783080"/>
            <a:ext cx="10241280" cy="685800"/>
          </a:xfrm>
          <a:prstGeom prst="rect">
            <a:avLst/>
          </a:prstGeom>
          <a:noFill/>
          <a:ln/>
        </p:spPr>
        <p:txBody>
          <a:bodyPr wrap="square" lIns="0" tIns="0" rIns="0" bIns="0" rtlCol="0" anchor="t"/>
          <a:lstStyle/>
          <a:p>
            <a:pPr indent="0" marL="0">
              <a:buNone/>
            </a:pPr>
            <a:r>
              <a:rPr lang="en-US" sz="1500" dirty="0">
                <a:solidFill>
                  <a:srgbClr val="1F2937"/>
                </a:solidFill>
              </a:rPr>
              <a:t>Flash normalises the DataFrame you pass it in place; reused data was normalised repeatedly and forecasts exploded. Fixed by passing .copy().</a:t>
            </a:r>
            <a:endParaRPr lang="en-US" sz="1500" dirty="0"/>
          </a:p>
        </p:txBody>
      </p:sp>
      <p:sp>
        <p:nvSpPr>
          <p:cNvPr id="8" name="badge"/>
          <p:cNvSpPr/>
          <p:nvPr/>
        </p:nvSpPr>
        <p:spPr>
          <a:xfrm>
            <a:off x="548640" y="2651760"/>
            <a:ext cx="548640" cy="548640"/>
          </a:xfrm>
          <a:prstGeom prst="ellipse">
            <a:avLst/>
          </a:prstGeom>
          <a:solidFill>
            <a:srgbClr val="2A78D6"/>
          </a:solidFill>
          <a:ln w="12700">
            <a:solidFill>
              <a:srgbClr val="2A78D6"/>
            </a:solidFill>
            <a:prstDash val="solid"/>
          </a:ln>
        </p:spPr>
      </p:sp>
      <p:sp>
        <p:nvSpPr>
          <p:cNvPr id="9" name="badge text"/>
          <p:cNvSpPr txBox="1"/>
          <p:nvPr/>
        </p:nvSpPr>
        <p:spPr>
          <a:xfrm>
            <a:off x="54864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0" name="Text 7"/>
          <p:cNvSpPr txBox="1"/>
          <p:nvPr/>
        </p:nvSpPr>
        <p:spPr>
          <a:xfrm>
            <a:off x="1325880" y="2560320"/>
            <a:ext cx="10241280" cy="411480"/>
          </a:xfrm>
          <a:prstGeom prst="rect">
            <a:avLst/>
          </a:prstGeom>
          <a:noFill/>
          <a:ln/>
        </p:spPr>
        <p:txBody>
          <a:bodyPr wrap="square" lIns="0" tIns="0" rIns="0" bIns="0" rtlCol="0" anchor="ctr"/>
          <a:lstStyle/>
          <a:p>
            <a:pPr indent="0" marL="0">
              <a:buNone/>
            </a:pPr>
            <a:r>
              <a:rPr lang="en-US" sz="1800" b="1" dirty="0">
                <a:solidFill>
                  <a:srgbClr val="14213D"/>
                </a:solidFill>
              </a:rPr>
              <a:t>Archived library</a:t>
            </a:r>
            <a:endParaRPr lang="en-US" sz="1800" dirty="0"/>
          </a:p>
        </p:txBody>
      </p:sp>
      <p:sp>
        <p:nvSpPr>
          <p:cNvPr id="11" name="Text 8"/>
          <p:cNvSpPr txBox="1"/>
          <p:nvPr/>
        </p:nvSpPr>
        <p:spPr>
          <a:xfrm>
            <a:off x="1325880" y="2971800"/>
            <a:ext cx="10241280" cy="685800"/>
          </a:xfrm>
          <a:prstGeom prst="rect">
            <a:avLst/>
          </a:prstGeom>
          <a:noFill/>
          <a:ln/>
        </p:spPr>
        <p:txBody>
          <a:bodyPr wrap="square" lIns="0" tIns="0" rIns="0" bIns="0" rtlCol="0" anchor="t"/>
          <a:lstStyle/>
          <a:p>
            <a:pPr indent="0" marL="0">
              <a:buNone/>
            </a:pPr>
            <a:r>
              <a:rPr lang="en-US" sz="1500" dirty="0">
                <a:solidFill>
                  <a:srgbClr val="1F2937"/>
                </a:solidFill>
              </a:rPr>
              <a:t>Flash needs pytorch-lightning &lt; 2.0: separate Python 3.10 environment, setuptools &lt; 81, and the missing 'requests' dependency added.</a:t>
            </a:r>
            <a:endParaRPr lang="en-US" sz="1500" dirty="0"/>
          </a:p>
        </p:txBody>
      </p:sp>
      <p:sp>
        <p:nvSpPr>
          <p:cNvPr id="12" name="badge"/>
          <p:cNvSpPr/>
          <p:nvPr/>
        </p:nvSpPr>
        <p:spPr>
          <a:xfrm>
            <a:off x="548640" y="3840480"/>
            <a:ext cx="548640" cy="548640"/>
          </a:xfrm>
          <a:prstGeom prst="ellipse">
            <a:avLst/>
          </a:prstGeom>
          <a:solidFill>
            <a:srgbClr val="2A78D6"/>
          </a:solidFill>
          <a:ln w="12700">
            <a:solidFill>
              <a:srgbClr val="2A78D6"/>
            </a:solidFill>
            <a:prstDash val="solid"/>
          </a:ln>
        </p:spPr>
      </p:sp>
      <p:sp>
        <p:nvSpPr>
          <p:cNvPr id="13" name="badge text"/>
          <p:cNvSpPr txBox="1"/>
          <p:nvPr/>
        </p:nvSpPr>
        <p:spPr>
          <a:xfrm>
            <a:off x="548640" y="3840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4" name="Text 11"/>
          <p:cNvSpPr txBox="1"/>
          <p:nvPr/>
        </p:nvSpPr>
        <p:spPr>
          <a:xfrm>
            <a:off x="1325880" y="3749040"/>
            <a:ext cx="10241280" cy="411480"/>
          </a:xfrm>
          <a:prstGeom prst="rect">
            <a:avLst/>
          </a:prstGeom>
          <a:noFill/>
          <a:ln/>
        </p:spPr>
        <p:txBody>
          <a:bodyPr wrap="square" lIns="0" tIns="0" rIns="0" bIns="0" rtlCol="0" anchor="ctr"/>
          <a:lstStyle/>
          <a:p>
            <a:pPr indent="0" marL="0">
              <a:buNone/>
            </a:pPr>
            <a:r>
              <a:rPr lang="en-US" sz="1800" b="1" dirty="0">
                <a:solidFill>
                  <a:srgbClr val="14213D"/>
                </a:solidFill>
              </a:rPr>
              <a:t>PyTorch freezing</a:t>
            </a:r>
            <a:endParaRPr lang="en-US" sz="1800" dirty="0"/>
          </a:p>
        </p:txBody>
      </p:sp>
      <p:sp>
        <p:nvSpPr>
          <p:cNvPr id="15" name="Text 12"/>
          <p:cNvSpPr txBox="1"/>
          <p:nvPr/>
        </p:nvSpPr>
        <p:spPr>
          <a:xfrm>
            <a:off x="1325880" y="4160520"/>
            <a:ext cx="10241280" cy="685800"/>
          </a:xfrm>
          <a:prstGeom prst="rect">
            <a:avLst/>
          </a:prstGeom>
          <a:noFill/>
          <a:ln/>
        </p:spPr>
        <p:txBody>
          <a:bodyPr wrap="square" lIns="0" tIns="0" rIns="0" bIns="0" rtlCol="0" anchor="t"/>
          <a:lstStyle/>
          <a:p>
            <a:pPr indent="0" marL="0">
              <a:buNone/>
            </a:pPr>
            <a:r>
              <a:rPr lang="en-US" sz="1500" dirty="0">
                <a:solidFill>
                  <a:srgbClr val="1F2937"/>
                </a:solidFill>
              </a:rPr>
              <a:t>XGBoost and PyTorch both ship OpenMP on macOS and PyTorch hung at 0% CPU. Fixed by running each framework in its own notebook.</a:t>
            </a:r>
            <a:endParaRPr lang="en-US" sz="1500" dirty="0"/>
          </a:p>
        </p:txBody>
      </p:sp>
      <p:sp>
        <p:nvSpPr>
          <p:cNvPr id="16" name="badge"/>
          <p:cNvSpPr/>
          <p:nvPr/>
        </p:nvSpPr>
        <p:spPr>
          <a:xfrm>
            <a:off x="548640" y="5029200"/>
            <a:ext cx="548640" cy="548640"/>
          </a:xfrm>
          <a:prstGeom prst="ellipse">
            <a:avLst/>
          </a:prstGeom>
          <a:solidFill>
            <a:srgbClr val="2A78D6"/>
          </a:solidFill>
          <a:ln w="12700">
            <a:solidFill>
              <a:srgbClr val="2A78D6"/>
            </a:solidFill>
            <a:prstDash val="solid"/>
          </a:ln>
        </p:spPr>
      </p:sp>
      <p:sp>
        <p:nvSpPr>
          <p:cNvPr id="17" name="badge text"/>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8" name="Text 15"/>
          <p:cNvSpPr txBox="1"/>
          <p:nvPr/>
        </p:nvSpPr>
        <p:spPr>
          <a:xfrm>
            <a:off x="1325880" y="4937760"/>
            <a:ext cx="10241280" cy="411480"/>
          </a:xfrm>
          <a:prstGeom prst="rect">
            <a:avLst/>
          </a:prstGeom>
          <a:noFill/>
          <a:ln/>
        </p:spPr>
        <p:txBody>
          <a:bodyPr wrap="square" lIns="0" tIns="0" rIns="0" bIns="0" rtlCol="0" anchor="ctr"/>
          <a:lstStyle/>
          <a:p>
            <a:pPr indent="0" marL="0">
              <a:buNone/>
            </a:pPr>
            <a:r>
              <a:rPr lang="en-US" sz="1800" b="1" dirty="0">
                <a:solidFill>
                  <a:srgbClr val="14213D"/>
                </a:solidFill>
              </a:rPr>
              <a:t>Missing data on Yahoo</a:t>
            </a:r>
            <a:endParaRPr lang="en-US" sz="1800" dirty="0"/>
          </a:p>
        </p:txBody>
      </p:sp>
      <p:sp>
        <p:nvSpPr>
          <p:cNvPr id="19" name="Text 16"/>
          <p:cNvSpPr txBox="1"/>
          <p:nvPr/>
        </p:nvSpPr>
        <p:spPr>
          <a:xfrm>
            <a:off x="1325880" y="5349240"/>
            <a:ext cx="10241280" cy="685800"/>
          </a:xfrm>
          <a:prstGeom prst="rect">
            <a:avLst/>
          </a:prstGeom>
          <a:noFill/>
          <a:ln/>
        </p:spPr>
        <p:txBody>
          <a:bodyPr wrap="square" lIns="0" tIns="0" rIns="0" bIns="0" rtlCol="0" anchor="t"/>
          <a:lstStyle/>
          <a:p>
            <a:pPr indent="0" marL="0">
              <a:buNone/>
            </a:pPr>
            <a:r>
              <a:rPr lang="en-US" sz="1500" dirty="0">
                <a:solidFill>
                  <a:srgbClr val="1F2937"/>
                </a:solidFill>
              </a:rPr>
              <a:t>No 1M yield or debt data on Yahoo Finance, so FRED was used and the two sources were cross-checked.</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000" b="1" dirty="0">
                <a:solidFill>
                  <a:srgbClr val="FFFFFF"/>
                </a:solidFill>
              </a:rPr>
              <a:t>Conclusion</a:t>
            </a:r>
            <a:endParaRPr lang="en-US" sz="4000" dirty="0"/>
          </a:p>
        </p:txBody>
      </p:sp>
      <p:sp>
        <p:nvSpPr>
          <p:cNvPr id="3" name="Text 0"/>
          <p:cNvSpPr/>
          <p:nvPr>
            <p:ph idx="101" type="body" hasCustomPrompt="1"/>
          </p:nvPr>
        </p:nvSpPr>
        <p:spPr>
          <a:xfrm>
            <a:off x="731520" y="3611880"/>
            <a:ext cx="10698480" cy="2377440"/>
          </a:xfrm>
          <a:prstGeom prst="rect">
            <a:avLst/>
          </a:prstGeom>
          <a:noFill/>
          <a:ln/>
        </p:spPr>
        <p:txBody>
          <a:bodyPr wrap="square" rtlCol="0" anchor="t"/>
          <a:lstStyle/>
          <a:p>
            <a:pPr algn="l" indent="0" marL="0">
              <a:buNone/>
            </a:pPr>
            <a:r>
              <a:rPr lang="en-US" sz="1800" dirty="0">
                <a:solidFill>
                  <a:srgbClr val="CBD5E1"/>
                </a:solidFill>
              </a:rPr>
              <a:t>1.  The target matters more than the framework: predicting levels fails, predicting changes works.</a:t>
            </a:r>
            <a:endParaRPr lang="en-US" sz="1800" dirty="0"/>
          </a:p>
          <a:p>
            <a:pPr algn="l" indent="0" marL="0">
              <a:buNone/>
            </a:pPr>
            <a:r>
              <a:rPr lang="en-US" sz="1800" dirty="0">
                <a:solidFill>
                  <a:srgbClr val="CBD5E1"/>
                </a:solidFill>
              </a:rPr>
              <a:t>2.  No model beats the naive "no change" forecast; one-week yield moves are close to unpredictable.</a:t>
            </a:r>
            <a:endParaRPr lang="en-US" sz="1800" dirty="0"/>
          </a:p>
          <a:p>
            <a:pPr algn="l" indent="0" marL="0">
              <a:buNone/>
            </a:pPr>
            <a:r>
              <a:rPr lang="en-US" sz="1800" dirty="0">
                <a:solidFill>
                  <a:srgbClr val="CBD5E1"/>
                </a:solidFill>
              </a:rPr>
              <a:t>3.  Simpler is better here: linear regression and XGBoost come closest to naive.</a:t>
            </a:r>
            <a:endParaRPr lang="en-US" sz="1800" dirty="0"/>
          </a:p>
          <a:p>
            <a:pPr algn="l" indent="0" marL="0">
              <a:buNone/>
            </a:pPr>
            <a:r>
              <a:rPr lang="en-US" sz="1800" dirty="0">
                <a:solidFill>
                  <a:srgbClr val="CBD5E1"/>
                </a:solidFill>
              </a:rPr>
              <a:t>4.  XGBoost ranks first on simplicity, transparency and efficacy; Lightning Flash last.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4213D"/>
                </a:solidFill>
              </a:rPr>
              <a:t>Limitations and future work</a:t>
            </a:r>
            <a:endParaRPr lang="en-US" sz="3000" dirty="0"/>
          </a:p>
        </p:txBody>
      </p:sp>
      <p:sp>
        <p:nvSpPr>
          <p:cNvPr id="4" name="card"/>
          <p:cNvSpPr/>
          <p:nvPr/>
        </p:nvSpPr>
        <p:spPr>
          <a:xfrm>
            <a:off x="548640" y="1371600"/>
            <a:ext cx="5394960" cy="3200400"/>
          </a:xfrm>
          <a:prstGeom prst="roundRect">
            <a:avLst>
              <a:gd name="adj" fmla="val 2286"/>
            </a:avLst>
          </a:prstGeom>
          <a:solidFill>
            <a:srgbClr val="F3F4F6"/>
          </a:solidFill>
          <a:ln w="12700">
            <a:solidFill>
              <a:srgbClr val="F3F4F6"/>
            </a:solidFill>
            <a:prstDash val="solid"/>
          </a:ln>
        </p:spPr>
      </p:sp>
      <p:sp>
        <p:nvSpPr>
          <p:cNvPr id="5" name="card"/>
          <p:cNvSpPr/>
          <p:nvPr/>
        </p:nvSpPr>
        <p:spPr>
          <a:xfrm>
            <a:off x="6263640" y="1371600"/>
            <a:ext cx="5394960" cy="3200400"/>
          </a:xfrm>
          <a:prstGeom prst="roundRect">
            <a:avLst>
              <a:gd name="adj" fmla="val 2286"/>
            </a:avLst>
          </a:prstGeom>
          <a:solidFill>
            <a:srgbClr val="F3F4F6"/>
          </a:solidFill>
          <a:ln w="12700">
            <a:solidFill>
              <a:srgbClr val="F3F4F6"/>
            </a:solidFill>
            <a:prstDash val="solid"/>
          </a:ln>
        </p:spPr>
      </p:sp>
      <p:sp>
        <p:nvSpPr>
          <p:cNvPr id="6" name="Text 3"/>
          <p:cNvSpPr txBox="1"/>
          <p:nvPr/>
        </p:nvSpPr>
        <p:spPr>
          <a:xfrm>
            <a:off x="777240" y="1508760"/>
            <a:ext cx="4937760" cy="457200"/>
          </a:xfrm>
          <a:prstGeom prst="rect">
            <a:avLst/>
          </a:prstGeom>
          <a:noFill/>
          <a:ln/>
        </p:spPr>
        <p:txBody>
          <a:bodyPr wrap="square" lIns="0" tIns="0" rIns="0" bIns="0" rtlCol="0" anchor="ctr"/>
          <a:lstStyle/>
          <a:p>
            <a:pPr indent="0" marL="0">
              <a:buNone/>
            </a:pPr>
            <a:r>
              <a:rPr lang="en-US" sz="2000" b="1" dirty="0">
                <a:solidFill>
                  <a:srgbClr val="14213D"/>
                </a:solidFill>
              </a:rPr>
              <a:t>Limitations</a:t>
            </a:r>
            <a:endParaRPr lang="en-US" sz="2000" dirty="0"/>
          </a:p>
        </p:txBody>
      </p:sp>
      <p:sp>
        <p:nvSpPr>
          <p:cNvPr id="7" name="bullets"/>
          <p:cNvSpPr txBox="1"/>
          <p:nvPr/>
        </p:nvSpPr>
        <p:spPr>
          <a:xfrm>
            <a:off x="777240" y="2057400"/>
            <a:ext cx="4937760" cy="3657600"/>
          </a:xfrm>
          <a:prstGeom prst="rect">
            <a:avLst/>
          </a:prstGeom>
          <a:noFill/>
          <a:ln/>
        </p:spPr>
        <p:txBody>
          <a:bodyPr wrap="square" rtlCol="0" anchor="t"/>
          <a:lstStyle/>
          <a:p>
            <a:pPr marL="342900" indent="-342900">
              <a:spcAft>
                <a:spcPts val="800"/>
              </a:spcAft>
              <a:buSzPct val="100000"/>
              <a:buChar char="•"/>
            </a:pPr>
            <a:r>
              <a:rPr lang="en-US" sz="1600" dirty="0">
                <a:solidFill>
                  <a:srgbClr val="1F2937"/>
                </a:solidFill>
              </a:rPr>
              <a:t>One horizon (1 week) and one train / test split</a:t>
            </a:r>
            <a:endParaRPr lang="en-US" sz="1600" dirty="0"/>
          </a:p>
          <a:p>
            <a:pPr marL="342900" indent="-342900">
              <a:spcAft>
                <a:spcPts val="800"/>
              </a:spcAft>
              <a:buSzPct val="100000"/>
              <a:buChar char="•"/>
            </a:pPr>
            <a:r>
              <a:rPr lang="en-US" sz="1600" dirty="0">
                <a:solidFill>
                  <a:srgbClr val="1F2937"/>
                </a:solidFill>
              </a:rPr>
              <a:t>Models trained once on 2010-2021, never updated</a:t>
            </a:r>
            <a:endParaRPr lang="en-US" sz="1600" dirty="0"/>
          </a:p>
          <a:p>
            <a:pPr marL="342900" indent="-342900">
              <a:spcAft>
                <a:spcPts val="800"/>
              </a:spcAft>
              <a:buSzPct val="100000"/>
              <a:buChar char="•"/>
            </a:pPr>
            <a:r>
              <a:rPr lang="en-US" sz="1600" dirty="0">
                <a:solidFill>
                  <a:srgbClr val="1F2937"/>
                </a:solidFill>
              </a:rPr>
              <a:t>Publication lag of debt data approximated</a:t>
            </a:r>
            <a:endParaRPr lang="en-US" sz="1600" dirty="0"/>
          </a:p>
          <a:p>
            <a:pPr marL="342900" indent="-342900">
              <a:spcAft>
                <a:spcPts val="800"/>
              </a:spcAft>
              <a:buSzPct val="100000"/>
              <a:buChar char="•"/>
            </a:pPr>
            <a:r>
              <a:rPr lang="en-US" sz="1600" dirty="0">
                <a:solidFill>
                  <a:srgbClr val="1F2937"/>
                </a:solidFill>
              </a:rPr>
              <a:t>Small tuning budget, CPU only</a:t>
            </a:r>
            <a:endParaRPr lang="en-US" sz="1600" dirty="0"/>
          </a:p>
          <a:p>
            <a:pPr marL="342900" indent="-342900">
              <a:spcAft>
                <a:spcPts val="800"/>
              </a:spcAft>
              <a:buSzPct val="100000"/>
              <a:buChar char="•"/>
            </a:pPr>
            <a:r>
              <a:rPr lang="en-US" sz="1600" dirty="0">
                <a:solidFill>
                  <a:srgbClr val="1F2937"/>
                </a:solidFill>
              </a:rPr>
              <a:t>No inflation or Fed funds futures data</a:t>
            </a:r>
            <a:endParaRPr lang="en-US" sz="1600" dirty="0"/>
          </a:p>
        </p:txBody>
      </p:sp>
      <p:sp>
        <p:nvSpPr>
          <p:cNvPr id="8" name="Text 5"/>
          <p:cNvSpPr txBox="1"/>
          <p:nvPr/>
        </p:nvSpPr>
        <p:spPr>
          <a:xfrm>
            <a:off x="6492240" y="1508760"/>
            <a:ext cx="4937760" cy="457200"/>
          </a:xfrm>
          <a:prstGeom prst="rect">
            <a:avLst/>
          </a:prstGeom>
          <a:noFill/>
          <a:ln/>
        </p:spPr>
        <p:txBody>
          <a:bodyPr wrap="square" lIns="0" tIns="0" rIns="0" bIns="0" rtlCol="0" anchor="ctr"/>
          <a:lstStyle/>
          <a:p>
            <a:pPr indent="0" marL="0">
              <a:buNone/>
            </a:pPr>
            <a:r>
              <a:rPr lang="en-US" sz="2000" b="1" dirty="0">
                <a:solidFill>
                  <a:srgbClr val="14213D"/>
                </a:solidFill>
              </a:rPr>
              <a:t>Future work</a:t>
            </a:r>
            <a:endParaRPr lang="en-US" sz="2000" dirty="0"/>
          </a:p>
        </p:txBody>
      </p:sp>
      <p:sp>
        <p:nvSpPr>
          <p:cNvPr id="9" name="bullets"/>
          <p:cNvSpPr txBox="1"/>
          <p:nvPr/>
        </p:nvSpPr>
        <p:spPr>
          <a:xfrm>
            <a:off x="6492240" y="2057400"/>
            <a:ext cx="4937760" cy="3657600"/>
          </a:xfrm>
          <a:prstGeom prst="rect">
            <a:avLst/>
          </a:prstGeom>
          <a:noFill/>
          <a:ln/>
        </p:spPr>
        <p:txBody>
          <a:bodyPr wrap="square" rtlCol="0" anchor="t"/>
          <a:lstStyle/>
          <a:p>
            <a:pPr marL="342900" indent="-342900">
              <a:spcAft>
                <a:spcPts val="800"/>
              </a:spcAft>
              <a:buSzPct val="100000"/>
              <a:buChar char="•"/>
            </a:pPr>
            <a:r>
              <a:rPr lang="en-US" sz="1600" dirty="0">
                <a:solidFill>
                  <a:srgbClr val="1F2937"/>
                </a:solidFill>
              </a:rPr>
              <a:t>Longer horizons (1-3 months)</a:t>
            </a:r>
            <a:endParaRPr lang="en-US" sz="1600" dirty="0"/>
          </a:p>
          <a:p>
            <a:pPr marL="342900" indent="-342900">
              <a:spcAft>
                <a:spcPts val="800"/>
              </a:spcAft>
              <a:buSzPct val="100000"/>
              <a:buChar char="•"/>
            </a:pPr>
            <a:r>
              <a:rPr lang="en-US" sz="1600" dirty="0">
                <a:solidFill>
                  <a:srgbClr val="1F2937"/>
                </a:solidFill>
              </a:rPr>
              <a:t>Forecast Nelson-Siegel level, slope and curvature factors</a:t>
            </a:r>
            <a:endParaRPr lang="en-US" sz="1600" dirty="0"/>
          </a:p>
          <a:p>
            <a:pPr marL="342900" indent="-342900">
              <a:spcAft>
                <a:spcPts val="800"/>
              </a:spcAft>
              <a:buSzPct val="100000"/>
              <a:buChar char="•"/>
            </a:pPr>
            <a:r>
              <a:rPr lang="en-US" sz="1600" dirty="0">
                <a:solidFill>
                  <a:srgbClr val="1F2937"/>
                </a:solidFill>
              </a:rPr>
              <a:t>Walk-forward retraining as new data arrives</a:t>
            </a:r>
            <a:endParaRPr lang="en-US" sz="1600" dirty="0"/>
          </a:p>
          <a:p>
            <a:pPr marL="342900" indent="-342900">
              <a:spcAft>
                <a:spcPts val="800"/>
              </a:spcAft>
              <a:buSzPct val="100000"/>
              <a:buChar char="•"/>
            </a:pPr>
            <a:r>
              <a:rPr lang="en-US" sz="1600" dirty="0">
                <a:solidFill>
                  <a:srgbClr val="1F2937"/>
                </a:solidFill>
              </a:rPr>
              <a:t>Add Fed funds futures and inflation data</a:t>
            </a:r>
            <a:endParaRPr lang="en-US" sz="1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000" b="1" dirty="0">
                <a:solidFill>
                  <a:srgbClr val="FFFFFF"/>
                </a:solidFill>
              </a:rPr>
              <a:t>Thank you. Questions?</a:t>
            </a:r>
            <a:endParaRPr lang="en-US" sz="4000" dirty="0"/>
          </a:p>
        </p:txBody>
      </p:sp>
      <p:sp>
        <p:nvSpPr>
          <p:cNvPr id="3" name="Text 0"/>
          <p:cNvSpPr/>
          <p:nvPr>
            <p:ph idx="101" type="body" hasCustomPrompt="1"/>
          </p:nvPr>
        </p:nvSpPr>
        <p:spPr>
          <a:xfrm>
            <a:off x="731520" y="3611880"/>
            <a:ext cx="10698480" cy="2377440"/>
          </a:xfrm>
          <a:prstGeom prst="rect">
            <a:avLst/>
          </a:prstGeom>
          <a:noFill/>
          <a:ln/>
        </p:spPr>
        <p:txBody>
          <a:bodyPr wrap="square" rtlCol="0" anchor="t"/>
          <a:lstStyle/>
          <a:p>
            <a:pPr algn="l" indent="0" marL="0">
              <a:buNone/>
            </a:pPr>
            <a:r>
              <a:rPr lang="en-US" sz="1800" dirty="0">
                <a:solidFill>
                  <a:srgbClr val="CBD5E1"/>
                </a:solidFill>
              </a:rPr>
              <a:t>Code, notebooks, data and report: github.com/ASHWINANAND19/yield-curve-prediction</a:t>
            </a:r>
            <a:endParaRPr lang="en-US" sz="1800" dirty="0"/>
          </a:p>
        </p:txBody>
      </p:sp>
    </p:spTree>
  </p:cSld>
  <p:clrMapOvr>
    <a:masterClrMapping/>
  </p:clrMapOvr>
</p:sld>
</file>

<file path=ppt/theme/theme1.xml><?xml version="1.0" encoding="utf-8"?>
<a:theme xmlns:a="http://schemas.openxmlformats.org/drawingml/2006/main" name="Yield Curve">
  <a:themeElements>
    <a:clrScheme name="Yield Curve">
      <a:dk1>
        <a:srgbClr val="111827"/>
      </a:dk1>
      <a:lt1>
        <a:srgbClr val="FFFFFF"/>
      </a:lt1>
      <a:dk2>
        <a:srgbClr val="14213D"/>
      </a:dk2>
      <a:lt2>
        <a:srgbClr val="F3F4F6"/>
      </a:lt2>
      <a:accent1>
        <a:srgbClr val="EB6834"/>
      </a:accent1>
      <a:accent2>
        <a:srgbClr val="2A78D6"/>
      </a:accent2>
      <a:accent3>
        <a:srgbClr val="1BAF7A"/>
      </a:accent3>
      <a:accent4>
        <a:srgbClr val="EDA100"/>
      </a:accent4>
      <a:accent5>
        <a:srgbClr val="E87BA4"/>
      </a:accent5>
      <a:accent6>
        <a:srgbClr val="008300"/>
      </a:accent6>
      <a:hlink>
        <a:srgbClr val="2A78D6"/>
      </a:hlink>
      <a:folHlink>
        <a:srgbClr val="6250D6"/>
      </a:folHlink>
    </a:clrScheme>
    <a:fontScheme name="Yield Cur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PES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Models to Predict the Yield Curve</dc:title>
  <dc:subject>MLBD project presentation</dc:subject>
  <dc:creator>Ashwin Anand, Abhishek Mundanat</dc:creator>
  <cp:lastModifiedBy>Ashwin Anand, Abhishek Mundanat</cp:lastModifiedBy>
  <cp:revision>1</cp:revision>
  <dcterms:created xsi:type="dcterms:W3CDTF">2026-10-29T03:49:10Z</dcterms:created>
  <dcterms:modified xsi:type="dcterms:W3CDTF">2026-10-29T03:49:10Z</dcterms:modified>
</cp:coreProperties>
</file>